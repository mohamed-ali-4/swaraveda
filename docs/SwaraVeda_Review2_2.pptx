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</p:sldMasterIdLst>
  <p:notesMasterIdLst>
    <p:notesMasterId r:id="rId15"/>
  </p:notesMasterIdLst>
  <p:sldIdLst>
    <p:sldId id="279" r:id="rId2"/>
    <p:sldId id="281" r:id="rId3"/>
    <p:sldId id="291" r:id="rId4"/>
    <p:sldId id="290" r:id="rId5"/>
    <p:sldId id="289" r:id="rId6"/>
    <p:sldId id="288" r:id="rId7"/>
    <p:sldId id="287" r:id="rId8"/>
    <p:sldId id="292" r:id="rId9"/>
    <p:sldId id="286" r:id="rId10"/>
    <p:sldId id="293" r:id="rId170"/>
    <p:sldId id="285" r:id="rId11"/>
    <p:sldId id="284" r:id="rId12"/>
    <p:sldId id="283" r:id="rId13"/>
    <p:sldId id="282" r:id="rId14"/>
  </p:sldIdLst>
  <p:sldSz cx="9144000" cy="6858000" type="screen4x3"/>
  <p:notesSz cx="7010400" cy="9296400"/>
  <p:embeddedFontLst>
    <p:embeddedFont>
      <p:font typeface="Verdana" panose="020B060403050404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3" roundtripDataSignature="AMtx7mgtpVR0efpXsYw/YFNiXHcO2TZrf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BA88FF-DACD-4CFD-880C-84CF54BED1EB}" v="1" dt="2026-10-30T00:52:11.041"/>
  </p1510:revLst>
</p1510:revInfo>
</file>

<file path=ppt/tableStyles.xml><?xml version="1.0" encoding="utf-8"?>
<a:tblStyleLst xmlns:a="http://schemas.openxmlformats.org/drawingml/2006/main" def="{C2CB93E1-9EAC-49F2-A970-9903F78E92AF}">
  <a:tblStyle styleId="{C2CB93E1-9EAC-49F2-A970-9903F78E92A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0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163" Type="http://customschemas.google.com/relationships/presentationmetadata" Target="metadata"/><Relationship Id="rId3" Type="http://schemas.openxmlformats.org/officeDocument/2006/relationships/slide" Target="slides/slide2.xml"/><Relationship Id="rId16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16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6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164" Type="http://schemas.openxmlformats.org/officeDocument/2006/relationships/presProps" Target="presProps.xml"/><Relationship Id="rId16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168" Type="http://schemas.microsoft.com/office/2016/11/relationships/changesInfo" Target="changesInfos/changesInfo1.xml"/>  <Relationship Id="rId170" Type="http://schemas.openxmlformats.org/officeDocument/2006/relationships/slide" Target="slides/slide14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ed Ali" userId="29f6f19c30ecbb8b" providerId="LiveId" clId="{231A9F74-67CD-4842-A08F-6BBCB5EE2F08}"/>
    <pc:docChg chg="custSel modSld">
      <pc:chgData name="Mohamed Ali" userId="29f6f19c30ecbb8b" providerId="LiveId" clId="{231A9F74-67CD-4842-A08F-6BBCB5EE2F08}" dt="2026-10-30T00:59:03.731" v="45" actId="14100"/>
      <pc:docMkLst>
        <pc:docMk/>
      </pc:docMkLst>
      <pc:sldChg chg="addSp delSp modSp mod">
        <pc:chgData name="Mohamed Ali" userId="29f6f19c30ecbb8b" providerId="LiveId" clId="{231A9F74-67CD-4842-A08F-6BBCB5EE2F08}" dt="2026-10-30T00:57:17.328" v="23" actId="14100"/>
        <pc:sldMkLst>
          <pc:docMk/>
          <pc:sldMk cId="0" sldId="279"/>
        </pc:sldMkLst>
        <pc:spChg chg="add del mod">
          <ac:chgData name="Mohamed Ali" userId="29f6f19c30ecbb8b" providerId="LiveId" clId="{231A9F74-67CD-4842-A08F-6BBCB5EE2F08}" dt="2026-10-30T00:52:36.815" v="11" actId="478"/>
          <ac:spMkLst>
            <pc:docMk/>
            <pc:sldMk cId="0" sldId="279"/>
            <ac:spMk id="4" creationId="{F4FC307A-C27E-41BD-6B6E-42BEF4ED4E3B}"/>
          </ac:spMkLst>
        </pc:spChg>
        <pc:spChg chg="add del mod">
          <ac:chgData name="Mohamed Ali" userId="29f6f19c30ecbb8b" providerId="LiveId" clId="{231A9F74-67CD-4842-A08F-6BBCB5EE2F08}" dt="2026-10-30T00:52:11.723" v="7"/>
          <ac:spMkLst>
            <pc:docMk/>
            <pc:sldMk cId="0" sldId="279"/>
            <ac:spMk id="6" creationId="{52B10481-C929-E5AC-A51B-DF82A8592242}"/>
          </ac:spMkLst>
        </pc:spChg>
        <pc:spChg chg="del mod">
          <ac:chgData name="Mohamed Ali" userId="29f6f19c30ecbb8b" providerId="LiveId" clId="{231A9F74-67CD-4842-A08F-6BBCB5EE2F08}" dt="2026-10-30T00:51:47.980" v="1" actId="478"/>
          <ac:spMkLst>
            <pc:docMk/>
            <pc:sldMk cId="0" sldId="279"/>
            <ac:spMk id="9" creationId="{8601123A-037C-7F88-38B6-72381C8451D3}"/>
          </ac:spMkLst>
        </pc:spChg>
        <pc:spChg chg="add mod">
          <ac:chgData name="Mohamed Ali" userId="29f6f19c30ecbb8b" providerId="LiveId" clId="{231A9F74-67CD-4842-A08F-6BBCB5EE2F08}" dt="2026-10-30T00:52:59.749" v="13" actId="1076"/>
          <ac:spMkLst>
            <pc:docMk/>
            <pc:sldMk cId="0" sldId="279"/>
            <ac:spMk id="10" creationId="{37E5A12D-4451-A112-CC60-53158F6F61F9}"/>
          </ac:spMkLst>
        </pc:spChg>
        <pc:spChg chg="del mod">
          <ac:chgData name="Mohamed Ali" userId="29f6f19c30ecbb8b" providerId="LiveId" clId="{231A9F74-67CD-4842-A08F-6BBCB5EE2F08}" dt="2026-10-30T00:53:05.895" v="14" actId="478"/>
          <ac:spMkLst>
            <pc:docMk/>
            <pc:sldMk cId="0" sldId="279"/>
            <ac:spMk id="11" creationId="{08AB2A1C-C731-5E57-315E-E8A8ED4072E4}"/>
          </ac:spMkLst>
        </pc:spChg>
        <pc:spChg chg="add mod">
          <ac:chgData name="Mohamed Ali" userId="29f6f19c30ecbb8b" providerId="LiveId" clId="{231A9F74-67CD-4842-A08F-6BBCB5EE2F08}" dt="2026-10-30T00:53:46.803" v="17" actId="1076"/>
          <ac:spMkLst>
            <pc:docMk/>
            <pc:sldMk cId="0" sldId="279"/>
            <ac:spMk id="13" creationId="{5303CF48-8358-8837-FACA-C852DDC4AC97}"/>
          </ac:spMkLst>
        </pc:spChg>
        <pc:picChg chg="add mod">
          <ac:chgData name="Mohamed Ali" userId="29f6f19c30ecbb8b" providerId="LiveId" clId="{231A9F74-67CD-4842-A08F-6BBCB5EE2F08}" dt="2026-10-30T00:57:17.328" v="23" actId="14100"/>
          <ac:picMkLst>
            <pc:docMk/>
            <pc:sldMk cId="0" sldId="279"/>
            <ac:picMk id="15" creationId="{B4B6215F-3107-4909-D0B0-2DEAD47D1D76}"/>
          </ac:picMkLst>
        </pc:picChg>
      </pc:sldChg>
      <pc:sldChg chg="addSp delSp modSp mod">
        <pc:chgData name="Mohamed Ali" userId="29f6f19c30ecbb8b" providerId="LiveId" clId="{231A9F74-67CD-4842-A08F-6BBCB5EE2F08}" dt="2026-10-30T00:58:27.674" v="37" actId="14100"/>
        <pc:sldMkLst>
          <pc:docMk/>
          <pc:sldMk cId="0" sldId="281"/>
        </pc:sldMkLst>
        <pc:spChg chg="del">
          <ac:chgData name="Mohamed Ali" userId="29f6f19c30ecbb8b" providerId="LiveId" clId="{231A9F74-67CD-4842-A08F-6BBCB5EE2F08}" dt="2026-10-30T00:57:59.881" v="28" actId="478"/>
          <ac:spMkLst>
            <pc:docMk/>
            <pc:sldMk cId="0" sldId="281"/>
            <ac:spMk id="3" creationId="{BA677A83-D006-E1F4-CCF8-948027C21AB2}"/>
          </ac:spMkLst>
        </pc:spChg>
        <pc:spChg chg="del mod">
          <ac:chgData name="Mohamed Ali" userId="29f6f19c30ecbb8b" providerId="LiveId" clId="{231A9F74-67CD-4842-A08F-6BBCB5EE2F08}" dt="2026-10-30T00:58:11.966" v="32" actId="478"/>
          <ac:spMkLst>
            <pc:docMk/>
            <pc:sldMk cId="0" sldId="281"/>
            <ac:spMk id="5" creationId="{13186C97-59A2-67F5-3892-203B43C861C9}"/>
          </ac:spMkLst>
        </pc:spChg>
        <pc:picChg chg="add mod">
          <ac:chgData name="Mohamed Ali" userId="29f6f19c30ecbb8b" providerId="LiveId" clId="{231A9F74-67CD-4842-A08F-6BBCB5EE2F08}" dt="2026-10-30T00:58:27.674" v="37" actId="14100"/>
          <ac:picMkLst>
            <pc:docMk/>
            <pc:sldMk cId="0" sldId="281"/>
            <ac:picMk id="4" creationId="{0CFC4DF3-BDF1-6D39-E0E0-95377F2163D9}"/>
          </ac:picMkLst>
        </pc:picChg>
      </pc:sldChg>
      <pc:sldChg chg="addSp delSp modSp mod">
        <pc:chgData name="Mohamed Ali" userId="29f6f19c30ecbb8b" providerId="LiveId" clId="{231A9F74-67CD-4842-A08F-6BBCB5EE2F08}" dt="2026-10-30T00:59:03.731" v="45" actId="14100"/>
        <pc:sldMkLst>
          <pc:docMk/>
          <pc:sldMk cId="0" sldId="285"/>
        </pc:sldMkLst>
        <pc:spChg chg="del">
          <ac:chgData name="Mohamed Ali" userId="29f6f19c30ecbb8b" providerId="LiveId" clId="{231A9F74-67CD-4842-A08F-6BBCB5EE2F08}" dt="2026-10-30T00:58:50.024" v="40" actId="478"/>
          <ac:spMkLst>
            <pc:docMk/>
            <pc:sldMk cId="0" sldId="285"/>
            <ac:spMk id="3" creationId="{BA677A83-D006-E1F4-CCF8-948027C21AB2}"/>
          </ac:spMkLst>
        </pc:spChg>
        <pc:spChg chg="del mod">
          <ac:chgData name="Mohamed Ali" userId="29f6f19c30ecbb8b" providerId="LiveId" clId="{231A9F74-67CD-4842-A08F-6BBCB5EE2F08}" dt="2026-10-30T00:58:46.500" v="39" actId="478"/>
          <ac:spMkLst>
            <pc:docMk/>
            <pc:sldMk cId="0" sldId="285"/>
            <ac:spMk id="5" creationId="{13186C97-59A2-67F5-3892-203B43C861C9}"/>
          </ac:spMkLst>
        </pc:spChg>
        <pc:picChg chg="add mod">
          <ac:chgData name="Mohamed Ali" userId="29f6f19c30ecbb8b" providerId="LiveId" clId="{231A9F74-67CD-4842-A08F-6BBCB5EE2F08}" dt="2026-10-30T00:59:03.731" v="45" actId="14100"/>
          <ac:picMkLst>
            <pc:docMk/>
            <pc:sldMk cId="0" sldId="285"/>
            <ac:picMk id="4" creationId="{2CBC3EA0-6A61-A69C-F4DE-DAFDF30506B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1"/>
            <a:ext cx="3049199" cy="472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181" tIns="47078" rIns="94181" bIns="47078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83919" y="1"/>
            <a:ext cx="3049199" cy="472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181" tIns="47078" rIns="94181" bIns="47078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55700" y="708025"/>
            <a:ext cx="4725988" cy="35448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4286" y="4490032"/>
            <a:ext cx="5627793" cy="425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181" tIns="47078" rIns="94181" bIns="47078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976837"/>
            <a:ext cx="3049199" cy="472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181" tIns="47078" rIns="94181" bIns="47078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Verdana"/>
              <a:buNone/>
              <a:defRPr sz="1800" b="0" i="0" u="none" strike="noStrike" cap="none">
                <a:solidFill>
                  <a:srgbClr val="000000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83919" y="8976837"/>
            <a:ext cx="3049199" cy="472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181" tIns="47078" rIns="94181" bIns="47078" anchor="b" anchorCtr="0">
            <a:noAutofit/>
          </a:bodyPr>
          <a:lstStyle/>
          <a:p>
            <a:pPr algn="r">
              <a:buSzPts val="1200"/>
            </a:pPr>
            <a:fld id="{00000000-1234-1234-1234-123412341234}" type="slidenum">
              <a:rPr lang="en-US" sz="1200" smtClean="0">
                <a:latin typeface="Times New Roman"/>
                <a:ea typeface="Times New Roman"/>
                <a:cs typeface="Times New Roman"/>
                <a:sym typeface="Times New Roman"/>
              </a:rPr>
              <a:pPr algn="r">
                <a:buSzPts val="1200"/>
              </a:pPr>
              <a:t>‹#›</a:t>
            </a:fld>
            <a:endParaRPr lang="en-US" sz="1800">
              <a:solidFill>
                <a:schemeClr val="dk1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23d66680d4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23d66680d4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>
          <a:extLst>
            <a:ext uri="{FF2B5EF4-FFF2-40B4-BE49-F238E27FC236}">
              <a16:creationId xmlns:a16="http://schemas.microsoft.com/office/drawing/2014/main" id="{B57AB778-DB4D-F3BB-51B4-E2FAB23F3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23d66680d41_0_0:notes">
            <a:extLst>
              <a:ext uri="{FF2B5EF4-FFF2-40B4-BE49-F238E27FC236}">
                <a16:creationId xmlns:a16="http://schemas.microsoft.com/office/drawing/2014/main" id="{B982CE94-6BC2-B3FD-FB7A-A530322D85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23d66680d41_0_0:notes">
            <a:extLst>
              <a:ext uri="{FF2B5EF4-FFF2-40B4-BE49-F238E27FC236}">
                <a16:creationId xmlns:a16="http://schemas.microsoft.com/office/drawing/2014/main" id="{EF36C0A9-EB14-4321-7C0F-93629295E9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96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391725" y="1245467"/>
            <a:ext cx="8520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body" idx="1"/>
          </p:nvPr>
        </p:nvSpPr>
        <p:spPr>
          <a:xfrm>
            <a:off x="253250" y="2476667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189" lvl="0" indent="-342892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378" lvl="1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566" lvl="2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754" lvl="3" indent="-317492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5943" lvl="4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132" lvl="5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320" lvl="6" indent="-317492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509" lvl="7" indent="-317492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697" lvl="8" indent="-31749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9" name="Google Shape;19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984001" y="552002"/>
            <a:ext cx="1974051" cy="4002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286182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8" y="992767"/>
            <a:ext cx="8520600" cy="273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3778833"/>
            <a:ext cx="8520600" cy="10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4" name="Google Shape;14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63214" y="6306736"/>
            <a:ext cx="2217574" cy="4496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428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91725" y="1035333"/>
            <a:ext cx="85206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2009067"/>
            <a:ext cx="85206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6001" y="288000"/>
            <a:ext cx="2255043" cy="864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5831455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8" r:id="rId1"/>
    <p:sldLayoutId id="214748368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0" Type="http://schemas.openxmlformats.org/officeDocument/2006/relationships/image" Target="../media/results_1.jpeg"/><Relationship Id="rId21" Type="http://schemas.openxmlformats.org/officeDocument/2006/relationships/image" Target="../media/results_2.jpeg"/><Relationship Id="rId22" Type="http://schemas.openxmlformats.org/officeDocument/2006/relationships/image" Target="../media/results_3.jpeg"/><Relationship Id="rId23" Type="http://schemas.openxmlformats.org/officeDocument/2006/relationships/image" Target="../media/results_4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58;p1">
            <a:extLst>
              <a:ext uri="{FF2B5EF4-FFF2-40B4-BE49-F238E27FC236}">
                <a16:creationId xmlns:a16="http://schemas.microsoft.com/office/drawing/2014/main" id="{DFD4F891-E7F7-9351-879B-C1AEE0DAC8A0}"/>
              </a:ext>
            </a:extLst>
          </p:cNvPr>
          <p:cNvSpPr txBox="1"/>
          <p:nvPr/>
        </p:nvSpPr>
        <p:spPr>
          <a:xfrm>
            <a:off x="1827162" y="1091100"/>
            <a:ext cx="6411639" cy="653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>
              <a:buSzPts val="2000"/>
            </a:pPr>
            <a:r>
              <a:rPr lang="en-GB" sz="20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Department of Computer Science and Engineering</a:t>
            </a:r>
            <a:endParaRPr b="1" dirty="0">
              <a:solidFill>
                <a:schemeClr val="dk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buSzPts val="1600"/>
            </a:pPr>
            <a:r>
              <a:rPr lang="en-GB" sz="18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JP Nagar, </a:t>
            </a:r>
            <a:r>
              <a:rPr lang="en-GB" sz="1800" b="1" dirty="0" err="1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Kothanur</a:t>
            </a:r>
            <a:r>
              <a:rPr lang="en-GB" sz="18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, Bengaluru - 560076</a:t>
            </a:r>
            <a:endParaRPr sz="1800" b="1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5" name="Google Shape;59;p1">
            <a:extLst>
              <a:ext uri="{FF2B5EF4-FFF2-40B4-BE49-F238E27FC236}">
                <a16:creationId xmlns:a16="http://schemas.microsoft.com/office/drawing/2014/main" id="{99B6F956-E69F-C22A-B6BC-EE537FF41AEC}"/>
              </a:ext>
            </a:extLst>
          </p:cNvPr>
          <p:cNvSpPr txBox="1"/>
          <p:nvPr/>
        </p:nvSpPr>
        <p:spPr>
          <a:xfrm>
            <a:off x="2013975" y="2884163"/>
            <a:ext cx="5441625" cy="1089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68569" rIns="68569" bIns="68569" anchor="t" anchorCtr="0">
            <a:spAutoFit/>
          </a:bodyPr>
          <a:lstStyle/>
          <a:p>
            <a:pPr algn="ctr"/>
            <a:r>
              <a:rPr lang="en-GB" sz="240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1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Academic year 2025 – 2026 Odd (5th) semester</a:t>
            </a:r>
            <a:r>
              <a:rPr lang="en-GB" sz="24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endParaRPr sz="240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algn="ctr">
              <a:lnSpc>
                <a:spcPct val="90000"/>
              </a:lnSpc>
            </a:pPr>
            <a:r>
              <a:rPr lang="en-GB" sz="24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Mini Project (BCS586) </a:t>
            </a:r>
            <a:endParaRPr sz="1050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algn="ctr">
              <a:lnSpc>
                <a:spcPct val="90000"/>
              </a:lnSpc>
            </a:pPr>
            <a:r>
              <a:rPr lang="en-GB" sz="18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Review 2 Presentation</a:t>
            </a:r>
            <a:endParaRPr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Google Shape;60;p1">
            <a:extLst>
              <a:ext uri="{FF2B5EF4-FFF2-40B4-BE49-F238E27FC236}">
                <a16:creationId xmlns:a16="http://schemas.microsoft.com/office/drawing/2014/main" id="{4BA3482C-A508-B52E-EEB8-285559015CBA}"/>
              </a:ext>
            </a:extLst>
          </p:cNvPr>
          <p:cNvSpPr txBox="1"/>
          <p:nvPr/>
        </p:nvSpPr>
        <p:spPr>
          <a:xfrm>
            <a:off x="573525" y="2218725"/>
            <a:ext cx="7996950" cy="1210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algn="ctr">
              <a:lnSpc>
                <a:spcPct val="90000"/>
              </a:lnSpc>
              <a:buSzPts val="3200"/>
            </a:pPr>
            <a:r>
              <a:rPr lang="en-GB" sz="2400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SwaraVeda: A Community-Driven Digital Archive for Endangered Indian Dialects</a:t>
            </a:r>
            <a:endParaRPr sz="105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Google Shape;61;p1">
            <a:extLst>
              <a:ext uri="{FF2B5EF4-FFF2-40B4-BE49-F238E27FC236}">
                <a16:creationId xmlns:a16="http://schemas.microsoft.com/office/drawing/2014/main" id="{37E5A12D-4451-A112-CC60-53158F6F61F9}"/>
              </a:ext>
            </a:extLst>
          </p:cNvPr>
          <p:cNvSpPr/>
          <p:nvPr/>
        </p:nvSpPr>
        <p:spPr>
          <a:xfrm>
            <a:off x="573525" y="4816144"/>
            <a:ext cx="5004575" cy="13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i="1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Presented by:</a:t>
            </a:r>
            <a:r>
              <a:rPr lang="en-GB" sz="1800" b="1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endParaRPr sz="1800" b="1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marR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LAKSH YADAV                         1RF24CS094</a:t>
            </a:r>
            <a:endParaRPr lang="en-IN" sz="18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marR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MIKUL SWAMY                        1RF24CS103</a:t>
            </a:r>
          </a:p>
          <a:p>
            <a:pPr marL="0" marR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MOHAMAD AASHIM               1RF24CS105</a:t>
            </a:r>
            <a:endParaRPr sz="18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marR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MOHAMED ALI </a:t>
            </a:r>
            <a:r>
              <a:rPr lang="en-GB" sz="18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                       </a:t>
            </a: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1RF24CS106</a:t>
            </a:r>
            <a:endParaRPr sz="18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sp>
        <p:nvSpPr>
          <p:cNvPr id="13" name="Google Shape;62;p1">
            <a:extLst>
              <a:ext uri="{FF2B5EF4-FFF2-40B4-BE49-F238E27FC236}">
                <a16:creationId xmlns:a16="http://schemas.microsoft.com/office/drawing/2014/main" id="{5303CF48-8358-8837-FACA-C852DDC4AC97}"/>
              </a:ext>
            </a:extLst>
          </p:cNvPr>
          <p:cNvSpPr txBox="1"/>
          <p:nvPr/>
        </p:nvSpPr>
        <p:spPr>
          <a:xfrm>
            <a:off x="5478054" y="4901944"/>
            <a:ext cx="3237900" cy="12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0" i="1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Under the Guidance of:</a:t>
            </a:r>
            <a:endParaRPr sz="1800" b="0" i="1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Mrs. Priyanka K R</a:t>
            </a:r>
            <a:endParaRPr sz="14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Assistant Professor</a:t>
            </a:r>
            <a:b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Dept. of CS&amp;E</a:t>
            </a:r>
            <a:endParaRPr sz="18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0" i="0" u="none" strike="noStrike" cap="none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RVITM</a:t>
            </a:r>
            <a:endParaRPr sz="1800" b="0" i="0" u="none" strike="noStrike" cap="none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4B6215F-3107-4909-D0B0-2DEAD47D1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0"/>
            <a:ext cx="2377440" cy="1091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CFC4DF3-BDF1-6D39-E0E0-95377F2163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16736"/>
            <a:ext cx="9144000" cy="55412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724C33-4140-1E29-D395-78FB2469D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4676"/>
            <a:ext cx="9144000" cy="55933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g78e6671419f8a2a0_22">
            <a:extLst>
              <a:ext uri="{FF2B5EF4-FFF2-40B4-BE49-F238E27FC236}">
                <a16:creationId xmlns:a16="http://schemas.microsoft.com/office/drawing/2014/main" id="{BA677A83-D006-E1F4-CCF8-948027C21AB2}"/>
              </a:ext>
            </a:extLst>
          </p:cNvPr>
          <p:cNvSpPr txBox="1"/>
          <p:nvPr/>
        </p:nvSpPr>
        <p:spPr>
          <a:xfrm>
            <a:off x="628650" y="1131097"/>
            <a:ext cx="7886700" cy="99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rmAutofit/>
          </a:bodyPr>
          <a:lstStyle/>
          <a:p>
            <a:pPr algn="ctr" defTabSz="685800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69;g78e6671419f8a2a0_22">
            <a:extLst>
              <a:ext uri="{FF2B5EF4-FFF2-40B4-BE49-F238E27FC236}">
                <a16:creationId xmlns:a16="http://schemas.microsoft.com/office/drawing/2014/main" id="{13186C97-59A2-67F5-3892-203B43C861C9}"/>
              </a:ext>
            </a:extLst>
          </p:cNvPr>
          <p:cNvSpPr txBox="1"/>
          <p:nvPr/>
        </p:nvSpPr>
        <p:spPr>
          <a:xfrm>
            <a:off x="822960" y="2011680"/>
            <a:ext cx="758952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marL="457200" indent="-342900">
              <a:lnSpc>
                <a:spcPct val="90000"/>
              </a:lnSpc>
              <a:spcBef>
                <a:spcPts val="1200"/>
              </a:spcBef>
              <a:buSzPts val="1800"/>
              <a:buFont typeface="Arial"/>
              <a:buChar char="•"/>
            </a:pPr>
            <a:r>
              <a:rPr lang="en-US" sz="1700" dirty="0">
                <a:solidFill>
                  <a:srgbClr val="595959"/>
                </a:solidFill>
              </a:rPr>
              <a:t>Many Indian dialects are purely oral: no written texts, no dictionaries, no speech technology</a:t>
            </a:r>
          </a:p>
          <a:p>
            <a:pPr marL="457200" indent="-342900">
              <a:lnSpc>
                <a:spcPct val="90000"/>
              </a:lnSpc>
              <a:spcBef>
                <a:spcPts val="1200"/>
              </a:spcBef>
              <a:buSzPts val="1800"/>
              <a:buFont typeface="Arial"/>
              <a:buChar char="•"/>
            </a:pPr>
            <a:r>
              <a:rPr lang="en-US" sz="1700" dirty="0">
                <a:solidFill>
                  <a:srgbClr val="595959"/>
                </a:solidFill>
              </a:rPr>
              <a:t>Elders carry songs, rituals and knowledge (e.g. Tulu paddanas) that are lost when they are</a:t>
            </a:r>
          </a:p>
          <a:p>
            <a:pPr marL="457200" indent="-342900">
              <a:lnSpc>
                <a:spcPct val="90000"/>
              </a:lnSpc>
              <a:spcBef>
                <a:spcPts val="1200"/>
              </a:spcBef>
              <a:buSzPts val="1800"/>
              <a:buFont typeface="Arial"/>
              <a:buChar char="•"/>
            </a:pPr>
            <a:r>
              <a:rPr lang="en-US" sz="1700" dirty="0">
                <a:solidFill>
                  <a:srgbClr val="595959"/>
                </a:solidFill>
              </a:rPr>
              <a:t>Speech AI works for Hindi, Kannada or Tamil, but not for Tulu, Toda, Kodava or Santali</a:t>
            </a:r>
          </a:p>
          <a:p>
            <a:pPr marL="457200" indent="-342900">
              <a:lnSpc>
                <a:spcPct val="90000"/>
              </a:lnSpc>
              <a:spcBef>
                <a:spcPts val="1200"/>
              </a:spcBef>
              <a:buSzPts val="1800"/>
              <a:buFont typeface="Arial"/>
              <a:buChar char="•"/>
            </a:pPr>
            <a:r>
              <a:rPr lang="en-US" sz="1700" dirty="0">
                <a:solidFill>
                  <a:srgbClr val="595959"/>
                </a:solidFill>
              </a:rPr>
              <a:t>Manual transcription is slow and needs native speakers, so recordings sit unused</a:t>
            </a:r>
          </a:p>
          <a:p>
            <a:pPr marL="457200" indent="-342900">
              <a:lnSpc>
                <a:spcPct val="90000"/>
              </a:lnSpc>
              <a:spcBef>
                <a:spcPts val="1200"/>
              </a:spcBef>
              <a:buSzPts val="1800"/>
              <a:buFont typeface="Arial"/>
              <a:buChar char="•"/>
            </a:pPr>
            <a:r>
              <a:rPr lang="en-US" sz="1700" dirty="0">
                <a:solidFill>
                  <a:srgbClr val="595959"/>
                </a:solidFill>
              </a:rPr>
              <a:t>SwaraVeda pairs an AI first draft (Vani) with community correction, so every recorded hour becomes verified, searchable 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g78e6671419f8a2a0_22">
            <a:extLst>
              <a:ext uri="{FF2B5EF4-FFF2-40B4-BE49-F238E27FC236}">
                <a16:creationId xmlns:a16="http://schemas.microsoft.com/office/drawing/2014/main" id="{BA677A83-D006-E1F4-CCF8-948027C21AB2}"/>
              </a:ext>
            </a:extLst>
          </p:cNvPr>
          <p:cNvSpPr txBox="1"/>
          <p:nvPr/>
        </p:nvSpPr>
        <p:spPr>
          <a:xfrm>
            <a:off x="628650" y="1131097"/>
            <a:ext cx="7886700" cy="99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rmAutofit/>
          </a:bodyPr>
          <a:lstStyle/>
          <a:p>
            <a:pPr algn="ctr" defTabSz="685800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 and Problem Statement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69;g78e6671419f8a2a0_22">
            <a:extLst>
              <a:ext uri="{FF2B5EF4-FFF2-40B4-BE49-F238E27FC236}">
                <a16:creationId xmlns:a16="http://schemas.microsoft.com/office/drawing/2014/main" id="{13186C97-59A2-67F5-3892-203B43C861C9}"/>
              </a:ext>
            </a:extLst>
          </p:cNvPr>
          <p:cNvSpPr txBox="1"/>
          <p:nvPr/>
        </p:nvSpPr>
        <p:spPr>
          <a:xfrm>
            <a:off x="822960" y="3154680"/>
            <a:ext cx="7589520" cy="3108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marL="457200" indent="-342900">
              <a:lnSpc>
                <a:spcPct val="90000"/>
              </a:lnSpc>
              <a:spcBef>
                <a:spcPts val="900"/>
              </a:spcBef>
              <a:buFont typeface="+mj-lt"/>
              <a:buAutoNum type="arabicPeriod"/>
            </a:pPr>
            <a:r>
              <a:rPr lang="en-US" sz="1500" dirty="0">
                <a:solidFill>
                  <a:srgbClr val="595959"/>
                </a:solidFill>
              </a:rPr>
              <a:t>Collect recordings in the browser or by upload, with explicit speaker consent, even without internet</a:t>
            </a:r>
          </a:p>
          <a:p>
            <a:pPr marL="457200" indent="-342900">
              <a:lnSpc>
                <a:spcPct val="90000"/>
              </a:lnSpc>
              <a:spcBef>
                <a:spcPts val="900"/>
              </a:spcBef>
              <a:buFont typeface="+mj-lt"/>
              <a:buAutoNum type="arabicPeriod"/>
            </a:pPr>
            <a:r>
              <a:rPr lang="en-US" sz="1500" dirty="0">
                <a:solidFill>
                  <a:srgbClr val="595959"/>
                </a:solidFill>
              </a:rPr>
              <a:t>Pre-process audio and generate timestamped transcripts automatically with Vani</a:t>
            </a:r>
          </a:p>
          <a:p>
            <a:pPr marL="457200" indent="-342900">
              <a:lnSpc>
                <a:spcPct val="90000"/>
              </a:lnSpc>
              <a:spcBef>
                <a:spcPts val="900"/>
              </a:spcBef>
              <a:buFont typeface="+mj-lt"/>
              <a:buAutoNum type="arabicPeriod"/>
            </a:pPr>
            <a:r>
              <a:rPr lang="en-US" sz="1500" dirty="0">
                <a:solidFill>
                  <a:srgbClr val="595959"/>
                </a:solidFill>
              </a:rPr>
              <a:t>Let native speakers correct, and verifiers approve, every passage</a:t>
            </a:r>
          </a:p>
          <a:p>
            <a:pPr marL="457200" indent="-342900">
              <a:lnSpc>
                <a:spcPct val="90000"/>
              </a:lnSpc>
              <a:spcBef>
                <a:spcPts val="900"/>
              </a:spcBef>
              <a:buFont typeface="+mj-lt"/>
              <a:buAutoNum type="arabicPeriod"/>
            </a:pPr>
            <a:r>
              <a:rPr lang="en-US" sz="1500" dirty="0">
                <a:solidFill>
                  <a:srgbClr val="595959"/>
                </a:solidFill>
              </a:rPr>
              <a:t>Make the archive searchable by words and by meaning, with passage playback</a:t>
            </a:r>
          </a:p>
          <a:p>
            <a:pPr marL="457200" indent="-342900">
              <a:lnSpc>
                <a:spcPct val="90000"/>
              </a:lnSpc>
              <a:spcBef>
                <a:spcPts val="900"/>
              </a:spcBef>
              <a:buFont typeface="+mj-lt"/>
              <a:buAutoNum type="arabicPeriod"/>
            </a:pPr>
            <a:r>
              <a:rPr lang="en-US" sz="1500" dirty="0">
                <a:solidFill>
                  <a:srgbClr val="595959"/>
                </a:solidFill>
              </a:rPr>
              <a:t>Export corrected, consented data to train speech models for these dialects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7589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595959"/>
                </a:solidFill>
              </a:rPr>
              <a:t>Problem statement: </a:t>
            </a:r>
            <a:r>
              <a:rPr sz="1500" i="0">
                <a:solidFill>
                  <a:srgbClr val="595959"/>
                </a:solidFill>
              </a:rPr>
              <a:t>There is no simple, consent-aware platform where communities can record endangered dialects, get machine-drafted transcripts, correct and verify them, and turn them into a reusable dataset for speech technology.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</a:rPr>
              <a:t>Objectives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g78e6671419f8a2a0_22">
            <a:extLst>
              <a:ext uri="{FF2B5EF4-FFF2-40B4-BE49-F238E27FC236}">
                <a16:creationId xmlns:a16="http://schemas.microsoft.com/office/drawing/2014/main" id="{BA677A83-D006-E1F4-CCF8-948027C21AB2}"/>
              </a:ext>
            </a:extLst>
          </p:cNvPr>
          <p:cNvSpPr txBox="1"/>
          <p:nvPr/>
        </p:nvSpPr>
        <p:spPr>
          <a:xfrm>
            <a:off x="628650" y="1131097"/>
            <a:ext cx="7886700" cy="99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rmAutofit/>
          </a:bodyPr>
          <a:lstStyle/>
          <a:p>
            <a:pPr algn="ctr" defTabSz="685800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Details (Algorithm)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95959"/>
                </a:solidFill>
              </a:rPr>
              <a:t>Algorithms used in the existing literature related to SwaraVeda</a:t>
            </a:r>
          </a:p>
        </p:txBody>
      </p:sp>
      <p:graphicFrame>
        <p:nvGraphicFramePr>
          <p:cNvPr id="20" name="Literature algorithms table"/>
          <p:cNvGraphicFramePr>
            <a:graphicFrameLocks noGrp="1"/>
          </p:cNvGraphicFramePr>
          <p:nvPr/>
        </p:nvGraphicFramePr>
        <p:xfrm>
          <a:off x="457200" y="2148840"/>
          <a:ext cx="8229600" cy="3904488"/>
        </p:xfrm>
        <a:graphic>
          <a:graphicData uri="http://schemas.openxmlformats.org/drawingml/2006/table">
            <a:tbl>
              <a:tblPr firstRow="1" bandRow="1"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Work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How it was used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Drawback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</a:rPr>
                        <a:t>Povey et al., 2011 (Kaldi)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HMM–GMM / HMM–DNN acoustic model + n-gram language model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Phone models decoded with a pronunciation lexicon (WFST); long the standard for Hindi, Tamil and other Indian-language ASR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Needs a pronunciation dictionary, written text and hundreds of transcribed hours, which unwritten dialects do not have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</a:rPr>
                        <a:t>Baevski et al., 2020 (wav2vec 2.0)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Self-supervised contrastive pre-training + CTC fine-tuning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Learns speech features from unlabelled audio, then fine-tunes ASR on as little as 10 min – 1 h of labelled speech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Every new language still needs labelled transcripts and GPU fine-tuning; plain characters, no punctuation or translation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</a:rPr>
                        <a:t>Javed et al., 2022 (IndicWav2Vec, AI4Bharat)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wav2vec 2.0 pre-trained on 40 Indian languages + CTC + n-gram LM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State-of-the-art ASR for 9 major Indian languages on Indian benchmarks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Covers scheduled languages only; dialects such as Tulu, Toda or Kodava are not supported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</a:rPr>
                        <a:t>Pratap et al., 2023 (Meta MMS)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wav2vec 2.0 + CTC with small per-language adapters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Speech recognition for 1,100+ languages, trained mostly on New Testament readings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Read, religious speech: weak on spontaneous songs, stories and conversation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</a:rPr>
                        <a:t>Radford et al., 2023 (Whisper)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Encoder–decoder Transformer, weakly supervised on 680k hours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Multilingual transcription, timestamps and translation in one model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About 100 languages and none of these dialects; may hallucinate on unseen languages; heavy compute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</a:rPr>
                        <a:t>Reimers &amp; Gurevych, 2019–20 (Sentence-BERT)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Siamese BERT, mean pooling, cosine similarity; multilingual by distillation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Sentence embeddings for semantic search and clustering in 50+ languages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Trained on high-resource text; weaker on dialect, code-mixed and transliterated text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b="1" dirty="0">
                          <a:solidFill>
                            <a:srgbClr val="262626"/>
                          </a:solidFill>
                        </a:rPr>
                        <a:t>Ardila et al., 2020 (Mozilla Common Voice)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Crowd-sourced read speech, validated by community votes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Volunteers read given sentences; a clip with 2 up-votes is accepted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</a:rPr>
                        <a:t>Needs written sentences to read aloud, so it cannot capture oral songs, stories or unwritten dialects</a:t>
                      </a:r>
                    </a:p>
                  </a:txBody>
                  <a:tcPr marL="54864" marR="54864" marT="36576" marB="36576" anchor="ctr">
                    <a:lnL w="6350" cap="flat" cmpd="sng" algn="ctr">
                      <a:solidFill>
                        <a:srgbClr val="BFBFBF"/>
                      </a:solidFill>
                      <a:prstDash val="soli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1" name="SwaraVeda takeaway"/>
          <p:cNvSpPr txBox="1"/>
          <p:nvPr/>
        </p:nvSpPr>
        <p:spPr>
          <a:xfrm>
            <a:off x="457200" y="6217920"/>
            <a:ext cx="8229600" cy="2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1" dirty="0">
                <a:solidFill>
                  <a:srgbClr val="404040"/>
                </a:solidFill>
              </a:rPr>
              <a:t>Gap SwaraVeda fills: </a:t>
            </a:r>
            <a:r>
              <a:rPr lang="en-US" sz="1000" dirty="0">
                <a:solidFill>
                  <a:srgbClr val="595959"/>
                </a:solidFill>
              </a:rPr>
              <a:t>Whisper drafts with a related-language hint, native speakers correct and verify, and the archive becomes the labelled dataset these methods lack.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g78e6671419f8a2a0_22">
            <a:extLst>
              <a:ext uri="{FF2B5EF4-FFF2-40B4-BE49-F238E27FC236}">
                <a16:creationId xmlns:a16="http://schemas.microsoft.com/office/drawing/2014/main" id="{BA677A83-D006-E1F4-CCF8-948027C21AB2}"/>
              </a:ext>
            </a:extLst>
          </p:cNvPr>
          <p:cNvSpPr txBox="1"/>
          <p:nvPr/>
        </p:nvSpPr>
        <p:spPr>
          <a:xfrm>
            <a:off x="628650" y="1131097"/>
            <a:ext cx="7886700" cy="99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rmAutofit/>
          </a:bodyPr>
          <a:lstStyle/>
          <a:p>
            <a:pPr algn="ctr" defTabSz="685800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Details (Algorithm)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69;g78e6671419f8a2a0_22">
            <a:extLst>
              <a:ext uri="{FF2B5EF4-FFF2-40B4-BE49-F238E27FC236}">
                <a16:creationId xmlns:a16="http://schemas.microsoft.com/office/drawing/2014/main" id="{13186C97-59A2-67F5-3892-203B43C861C9}"/>
              </a:ext>
            </a:extLst>
          </p:cNvPr>
          <p:cNvSpPr txBox="1"/>
          <p:nvPr/>
        </p:nvSpPr>
        <p:spPr>
          <a:xfrm>
            <a:off x="822960" y="2286000"/>
            <a:ext cx="7589520" cy="2834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marL="457200" indent="-342900">
              <a:lnSpc>
                <a:spcPct val="90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If a job for R is queued or running, return it; otherwise create job J</a:t>
            </a:r>
          </a:p>
          <a:p>
            <a:pPr marL="457200" indent="-342900">
              <a:lnSpc>
                <a:spcPct val="90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Download R’s audio (up to 200 MB)</a:t>
            </a:r>
          </a:p>
          <a:p>
            <a:pPr marL="457200" indent="-342900">
              <a:lnSpc>
                <a:spcPct val="90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a ← ffmpeg(audio): mono, 16 kHz, high-pass 80 Hz, loudness −18 LUFS, Opus 32 kbps</a:t>
            </a:r>
          </a:p>
          <a:p>
            <a:pPr marL="457200" indent="-342900">
              <a:lnSpc>
                <a:spcPct val="90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S ← Whisper-large-v3(a, language = D.asr_language) → timestamped segments</a:t>
            </a:r>
          </a:p>
          <a:p>
            <a:pPr marL="457200" indent="-342900">
              <a:lnSpc>
                <a:spcPct val="90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Replace R’s segments with S;  R.status ← transcribed</a:t>
            </a:r>
          </a:p>
          <a:p>
            <a:pPr marL="457200" indent="-342900">
              <a:lnSpc>
                <a:spcPct val="90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For each segment s:  s.embedding ← MiniLM(s.text)  (384-dimensional)</a:t>
            </a:r>
          </a:p>
          <a:p>
            <a:pPr marL="457200" indent="-342900">
              <a:lnSpc>
                <a:spcPct val="90000"/>
              </a:lnSpc>
              <a:spcBef>
                <a:spcPts val="700"/>
              </a:spcBef>
              <a:buFont typeface="+mj-lt"/>
              <a:buAutoNum type="arabicPeriod"/>
            </a:pPr>
            <a:r>
              <a:rPr lang="en-US" sz="1400" dirty="0">
                <a:solidFill>
                  <a:srgbClr val="595959"/>
                </a:solidFill>
              </a:rPr>
              <a:t>J.status ← completed (progress 5 → 25 → 70 → 85 → 100 %); on error J.status ← failed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95959"/>
                </a:solidFill>
              </a:rPr>
              <a:t>Transcription with Vani — input: recording R with audio file, dialect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7589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</a:rPr>
              <a:t>Also: </a:t>
            </a:r>
            <a:r>
              <a:rPr sz="1200" i="0">
                <a:solidFill>
                  <a:srgbClr val="595959"/>
                </a:solidFill>
              </a:rPr>
              <a:t>keyword search with PostgreSQL full-text ranking; search by meaning with pgvector cosine distance; corrections are re-embedded; offline recordings wait in IndexedDB and upload when the connection returns.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g78e6671419f8a2a0_22">
            <a:extLst>
              <a:ext uri="{FF2B5EF4-FFF2-40B4-BE49-F238E27FC236}">
                <a16:creationId xmlns:a16="http://schemas.microsoft.com/office/drawing/2014/main" id="{BA677A83-D006-E1F4-CCF8-948027C21AB2}"/>
              </a:ext>
            </a:extLst>
          </p:cNvPr>
          <p:cNvSpPr txBox="1"/>
          <p:nvPr/>
        </p:nvSpPr>
        <p:spPr>
          <a:xfrm>
            <a:off x="628650" y="1131097"/>
            <a:ext cx="7886700" cy="99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rmAutofit/>
          </a:bodyPr>
          <a:lstStyle/>
          <a:p>
            <a:pPr algn="ctr" defTabSz="685800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" name="Result screenshot 1" descr="Sign-in: logo in 10 scripts, Google sign-in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65860" y="1965960"/>
            <a:ext cx="3291840" cy="1874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41" name="Result caption 1"/>
          <p:cNvSpPr txBox="1"/>
          <p:nvPr/>
        </p:nvSpPr>
        <p:spPr>
          <a:xfrm>
            <a:off x="1165860" y="3840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95959"/>
                </a:solidFill>
              </a:rPr>
              <a:t>Sign-in: logo in 10 scripts, Google sign-in</a:t>
            </a:r>
          </a:p>
        </p:txBody>
      </p:sp>
      <p:pic>
        <p:nvPicPr>
          <p:cNvPr id="42" name="Result screenshot 2" descr="Home: live archive numbers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686300" y="1965960"/>
            <a:ext cx="3291840" cy="1874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43" name="Result caption 2"/>
          <p:cNvSpPr txBox="1"/>
          <p:nvPr/>
        </p:nvSpPr>
        <p:spPr>
          <a:xfrm>
            <a:off x="4686300" y="38404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95959"/>
                </a:solidFill>
              </a:rPr>
              <a:t>Home: live archive numbers</a:t>
            </a:r>
          </a:p>
        </p:txBody>
      </p:sp>
      <p:pic>
        <p:nvPicPr>
          <p:cNvPr id="44" name="Result screenshot 3" descr="Archive: recordings with review status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65860" y="4206240"/>
            <a:ext cx="3291840" cy="1874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45" name="Result caption 3"/>
          <p:cNvSpPr txBox="1"/>
          <p:nvPr/>
        </p:nvSpPr>
        <p:spPr>
          <a:xfrm>
            <a:off x="1165860" y="6080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95959"/>
                </a:solidFill>
              </a:rPr>
              <a:t>Archive: recordings with review status</a:t>
            </a:r>
          </a:p>
        </p:txBody>
      </p:sp>
      <p:pic>
        <p:nvPicPr>
          <p:cNvPr id="46" name="Result screenshot 4" descr="Dialect shelf: 140 dialects, 6 regions, search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686300" y="4206240"/>
            <a:ext cx="3291840" cy="1874520"/>
          </a:xfrm>
          <a:prstGeom prst="rect">
            <a:avLst/>
          </a:prstGeom>
          <a:ln w="9525">
            <a:solidFill>
              <a:srgbClr val="BFBFBF"/>
            </a:solidFill>
          </a:ln>
        </p:spPr>
      </p:pic>
      <p:sp>
        <p:nvSpPr>
          <p:cNvPr id="47" name="Result caption 4"/>
          <p:cNvSpPr txBox="1"/>
          <p:nvPr/>
        </p:nvSpPr>
        <p:spPr>
          <a:xfrm>
            <a:off x="4686300" y="6080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95959"/>
                </a:solidFill>
              </a:rPr>
              <a:t>Dialect shelf: 140 dialects, 6 regions, search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BC3EA0-6A61-A69C-F4DE-DAFDF30506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16736"/>
            <a:ext cx="9143999" cy="55412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g78e6671419f8a2a0_22">
            <a:extLst>
              <a:ext uri="{FF2B5EF4-FFF2-40B4-BE49-F238E27FC236}">
                <a16:creationId xmlns:a16="http://schemas.microsoft.com/office/drawing/2014/main" id="{BA677A83-D006-E1F4-CCF8-948027C21AB2}"/>
              </a:ext>
            </a:extLst>
          </p:cNvPr>
          <p:cNvSpPr txBox="1"/>
          <p:nvPr/>
        </p:nvSpPr>
        <p:spPr>
          <a:xfrm>
            <a:off x="628650" y="1131097"/>
            <a:ext cx="7886700" cy="99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rmAutofit/>
          </a:bodyPr>
          <a:lstStyle/>
          <a:p>
            <a:pPr algn="ctr" defTabSz="685800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 to be completed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69;g78e6671419f8a2a0_22">
            <a:extLst>
              <a:ext uri="{FF2B5EF4-FFF2-40B4-BE49-F238E27FC236}">
                <a16:creationId xmlns:a16="http://schemas.microsoft.com/office/drawing/2014/main" id="{13186C97-59A2-67F5-3892-203B43C861C9}"/>
              </a:ext>
            </a:extLst>
          </p:cNvPr>
          <p:cNvSpPr txBox="1"/>
          <p:nvPr/>
        </p:nvSpPr>
        <p:spPr>
          <a:xfrm>
            <a:off x="822960" y="2011680"/>
            <a:ext cx="758952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marL="457200" indent="-342900">
              <a:lnSpc>
                <a:spcPct val="90000"/>
              </a:lnSpc>
              <a:spcBef>
                <a:spcPts val="1100"/>
              </a:spcBef>
              <a:buSzPts val="1800"/>
              <a:buFont typeface="Arial"/>
              <a:buChar char="•"/>
            </a:pPr>
            <a:r>
              <a:rPr lang="en-US" sz="1600" b="1" dirty="0">
                <a:solidFill>
                  <a:srgbClr val="595959"/>
                </a:solidFill>
              </a:rPr>
              <a:t>Field data: </a:t>
            </a:r>
            <a:r>
              <a:rPr lang="en-US" sz="1600" dirty="0">
                <a:solidFill>
                  <a:srgbClr val="595959"/>
                </a:solidFill>
              </a:rPr>
              <a:t>record with Tulu and Kodava speakers; correct and verify the transcripts</a:t>
            </a:r>
          </a:p>
          <a:p>
            <a:pPr marL="457200" indent="-342900">
              <a:lnSpc>
                <a:spcPct val="90000"/>
              </a:lnSpc>
              <a:spcBef>
                <a:spcPts val="1100"/>
              </a:spcBef>
              <a:buSzPts val="1800"/>
              <a:buFont typeface="Arial"/>
              <a:buChar char="•"/>
            </a:pPr>
            <a:r>
              <a:rPr lang="en-US" sz="1600" b="1" dirty="0">
                <a:solidFill>
                  <a:srgbClr val="595959"/>
                </a:solidFill>
              </a:rPr>
              <a:t>Storage setup: </a:t>
            </a:r>
            <a:r>
              <a:rPr lang="en-US" sz="1600" dirty="0">
                <a:solidFill>
                  <a:srgbClr val="595959"/>
                </a:solidFill>
              </a:rPr>
              <a:t>finish the cloud storage configuration so uploads work on the live server</a:t>
            </a:r>
          </a:p>
          <a:p>
            <a:pPr marL="457200" indent="-342900">
              <a:lnSpc>
                <a:spcPct val="90000"/>
              </a:lnSpc>
              <a:spcBef>
                <a:spcPts val="1100"/>
              </a:spcBef>
              <a:buSzPts val="1800"/>
              <a:buFont typeface="Arial"/>
              <a:buChar char="•"/>
            </a:pPr>
            <a:r>
              <a:rPr lang="en-US" sz="1600" b="1" dirty="0">
                <a:solidFill>
                  <a:srgbClr val="595959"/>
                </a:solidFill>
              </a:rPr>
              <a:t>Dataset dashboard: </a:t>
            </a:r>
            <a:r>
              <a:rPr lang="en-US" sz="1600" dirty="0">
                <a:solidFill>
                  <a:srgbClr val="595959"/>
                </a:solidFill>
              </a:rPr>
              <a:t>show how many verified hours Vani has for each dialect</a:t>
            </a:r>
          </a:p>
          <a:p>
            <a:pPr marL="457200" indent="-342900">
              <a:lnSpc>
                <a:spcPct val="90000"/>
              </a:lnSpc>
              <a:spcBef>
                <a:spcPts val="1100"/>
              </a:spcBef>
              <a:buSzPts val="1800"/>
              <a:buFont typeface="Arial"/>
              <a:buChar char="•"/>
            </a:pPr>
            <a:r>
              <a:rPr lang="en-US" sz="1600" b="1" dirty="0">
                <a:solidFill>
                  <a:srgbClr val="595959"/>
                </a:solidFill>
              </a:rPr>
              <a:t>Speakers: </a:t>
            </a:r>
            <a:r>
              <a:rPr lang="en-US" sz="1600" dirty="0">
                <a:solidFill>
                  <a:srgbClr val="595959"/>
                </a:solidFill>
              </a:rPr>
              <a:t>tell speakers apart in a recording (diarization)</a:t>
            </a:r>
          </a:p>
          <a:p>
            <a:pPr marL="457200" indent="-342900">
              <a:lnSpc>
                <a:spcPct val="90000"/>
              </a:lnSpc>
              <a:spcBef>
                <a:spcPts val="1100"/>
              </a:spcBef>
              <a:buSzPts val="1800"/>
              <a:buFont typeface="Arial"/>
              <a:buChar char="•"/>
            </a:pPr>
            <a:r>
              <a:rPr lang="en-US" sz="1600" b="1" dirty="0">
                <a:solidFill>
                  <a:srgbClr val="595959"/>
                </a:solidFill>
              </a:rPr>
              <a:t>Accessibility: </a:t>
            </a:r>
            <a:r>
              <a:rPr lang="en-US" sz="1600" dirty="0">
                <a:solidFill>
                  <a:srgbClr val="595959"/>
                </a:solidFill>
              </a:rPr>
              <a:t>interface in Kannada, Hindi and other Indian languages</a:t>
            </a:r>
          </a:p>
          <a:p>
            <a:pPr marL="457200" indent="-342900">
              <a:lnSpc>
                <a:spcPct val="90000"/>
              </a:lnSpc>
              <a:spcBef>
                <a:spcPts val="1100"/>
              </a:spcBef>
              <a:buSzPts val="1800"/>
              <a:buFont typeface="Arial"/>
              <a:buChar char="•"/>
            </a:pPr>
            <a:r>
              <a:rPr lang="en-US" sz="1600" b="1" dirty="0">
                <a:solidFill>
                  <a:srgbClr val="595959"/>
                </a:solidFill>
              </a:rPr>
              <a:t>Train Vani: </a:t>
            </a:r>
            <a:r>
              <a:rPr lang="en-US" sz="1600" dirty="0">
                <a:solidFill>
                  <a:srgbClr val="595959"/>
                </a:solidFill>
              </a:rPr>
              <a:t>fine-tune Whisper on the exported dataset and measure word error rate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g78e6671419f8a2a0_22">
            <a:extLst>
              <a:ext uri="{FF2B5EF4-FFF2-40B4-BE49-F238E27FC236}">
                <a16:creationId xmlns:a16="http://schemas.microsoft.com/office/drawing/2014/main" id="{BA677A83-D006-E1F4-CCF8-948027C21AB2}"/>
              </a:ext>
            </a:extLst>
          </p:cNvPr>
          <p:cNvSpPr txBox="1"/>
          <p:nvPr/>
        </p:nvSpPr>
        <p:spPr>
          <a:xfrm>
            <a:off x="628650" y="1131097"/>
            <a:ext cx="7886700" cy="99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rmAutofit/>
          </a:bodyPr>
          <a:lstStyle/>
          <a:p>
            <a:pPr algn="ctr" defTabSz="685800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69;g78e6671419f8a2a0_22">
            <a:extLst>
              <a:ext uri="{FF2B5EF4-FFF2-40B4-BE49-F238E27FC236}">
                <a16:creationId xmlns:a16="http://schemas.microsoft.com/office/drawing/2014/main" id="{13186C97-59A2-67F5-3892-203B43C861C9}"/>
              </a:ext>
            </a:extLst>
          </p:cNvPr>
          <p:cNvSpPr txBox="1"/>
          <p:nvPr/>
        </p:nvSpPr>
        <p:spPr>
          <a:xfrm>
            <a:off x="822960" y="2011680"/>
            <a:ext cx="758952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UNESCO, Atlas of the World’s Languages in Danger, 3rd ed., Paris: UNESCO Publishing, 2010.</a:t>
            </a:r>
          </a:p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A. Radford, J. W. Kim, T. Xu, G. Brockman, C. McLeavey and I. Sutskever, “Robust Speech Recognition via Large-Scale Weak Supervision,” Proc. ICML, 2023.</a:t>
            </a:r>
          </a:p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N. Reimers and I. Gurevych, “Sentence-BERT: Sentence Embeddings using Siamese BERT-Networks,” Proc. EMNLP-IJCNLP, 2019.</a:t>
            </a:r>
          </a:p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N. Reimers and I. Gurevych, “Making Monolingual Sentence Embeddings Multilingual using Knowledge Distillation,” Proc. EMNLP, 2020.</a:t>
            </a:r>
          </a:p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H. Bredin et al., “pyannote.audio: Neural Building Blocks for Speaker Diarization,” Proc. ICASSP, 2020.</a:t>
            </a:r>
          </a:p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pgvector: open-source vector similarity search for PostgreSQL, github.com/pgvector/pgvector.</a:t>
            </a:r>
          </a:p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SIL International, ISO 639-3 code tables, iso639-3.sil.org.</a:t>
            </a:r>
          </a:p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D. Povey et al., “The Kaldi Speech Recognition Toolkit,” Proc. IEEE ASRU, 2011.</a:t>
            </a:r>
          </a:p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A. Baevski, H. Zhou, A. Mohamed and M. Auli, “wav2vec 2.0: A Framework for Self-Supervised Learning of Speech Representations,” Proc. NeurIPS, 2020.</a:t>
            </a:r>
          </a:p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T. Javed et al., “Towards Building ASR Systems for the Next Billion Users,” Proc. AAAI, 2022.</a:t>
            </a:r>
          </a:p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V. Pratap et al., “Scaling Speech Technology to 1,000+ Languages,” Journal of Machine Learning Research, 2024.</a:t>
            </a:r>
          </a:p>
          <a:p>
            <a:pPr marL="457200" indent="-342900">
              <a:lnSpc>
                <a:spcPct val="90000"/>
              </a:lnSpc>
              <a:spcBef>
                <a:spcPts val="450"/>
              </a:spcBef>
              <a:buFont typeface="+mj-lt"/>
              <a:buAutoNum type="arabicPeriod"/>
            </a:pPr>
            <a:r>
              <a:rPr lang="en-US" sz="1300" dirty="0">
                <a:solidFill>
                  <a:srgbClr val="595959"/>
                </a:solidFill>
              </a:rPr>
              <a:t>R. Ardila et al., “Common Voice: A Massively-Multilingual Speech Corpus,” Proc. LREC, 2020.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>
          <a:extLst>
            <a:ext uri="{FF2B5EF4-FFF2-40B4-BE49-F238E27FC236}">
              <a16:creationId xmlns:a16="http://schemas.microsoft.com/office/drawing/2014/main" id="{59236BD8-2EB6-C6B1-A74F-9CF531C8E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5;p11">
            <a:extLst>
              <a:ext uri="{FF2B5EF4-FFF2-40B4-BE49-F238E27FC236}">
                <a16:creationId xmlns:a16="http://schemas.microsoft.com/office/drawing/2014/main" id="{80E82BBC-903E-03E5-F615-ED94D1174626}"/>
              </a:ext>
            </a:extLst>
          </p:cNvPr>
          <p:cNvSpPr txBox="1"/>
          <p:nvPr/>
        </p:nvSpPr>
        <p:spPr>
          <a:xfrm>
            <a:off x="1610325" y="2832109"/>
            <a:ext cx="5829300" cy="87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pPr algn="ctr">
              <a:lnSpc>
                <a:spcPct val="90000"/>
              </a:lnSpc>
              <a:buSzPts val="5200"/>
            </a:pPr>
            <a:r>
              <a:rPr lang="en-GB" sz="39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You!</a:t>
            </a:r>
            <a:endParaRPr sz="1650" b="1" dirty="0"/>
          </a:p>
        </p:txBody>
      </p:sp>
    </p:spTree>
    <p:extLst>
      <p:ext uri="{BB962C8B-B14F-4D97-AF65-F5344CB8AC3E}">
        <p14:creationId xmlns:p14="http://schemas.microsoft.com/office/powerpoint/2010/main" val="34885154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8;g78e6671419f8a2a0_22">
            <a:extLst>
              <a:ext uri="{FF2B5EF4-FFF2-40B4-BE49-F238E27FC236}">
                <a16:creationId xmlns:a16="http://schemas.microsoft.com/office/drawing/2014/main" id="{BA677A83-D006-E1F4-CCF8-948027C21AB2}"/>
              </a:ext>
            </a:extLst>
          </p:cNvPr>
          <p:cNvSpPr txBox="1"/>
          <p:nvPr/>
        </p:nvSpPr>
        <p:spPr>
          <a:xfrm>
            <a:off x="628650" y="1131097"/>
            <a:ext cx="7886700" cy="99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rmAutofit/>
          </a:bodyPr>
          <a:lstStyle/>
          <a:p>
            <a:pPr algn="ctr" defTabSz="685800">
              <a:lnSpc>
                <a:spcPct val="90000"/>
              </a:lnSpc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(continued)</a:t>
            </a:r>
            <a:endParaRPr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recor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920240"/>
            <a:ext cx="3474720" cy="2171700"/>
          </a:xfrm>
          <a:prstGeom prst="rect">
            <a:avLst/>
          </a:prstGeom>
          <a:ln w="9525">
            <a:solidFill>
              <a:srgbClr val="8C8C8C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377440" y="40919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595959"/>
                </a:solidFill>
              </a:rPr>
              <a:t>Recording page: Vani’s transcript, synced with the audio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34840"/>
            <a:ext cx="7589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342900">
              <a:lnSpc>
                <a:spcPct val="90000"/>
              </a:lnSpc>
              <a:spcBef>
                <a:spcPts val="500"/>
              </a:spcBef>
              <a:buSzPts val="1800"/>
              <a:buFont typeface="Arial"/>
              <a:buChar char="•"/>
            </a:pPr>
            <a:r>
              <a:rPr lang="en-US" sz="1400" b="1" dirty="0">
                <a:solidFill>
                  <a:srgbClr val="595959"/>
                </a:solidFill>
              </a:rPr>
              <a:t>Deployed live: </a:t>
            </a:r>
            <a:r>
              <a:rPr lang="en-US" sz="1400" dirty="0">
                <a:solidFill>
                  <a:srgbClr val="595959"/>
                </a:solidFill>
              </a:rPr>
              <a:t>swara-veda.vercel.app with a FastAPI server on Render and a Supabase database</a:t>
            </a:r>
          </a:p>
          <a:p>
            <a:pPr marL="457200" indent="-342900">
              <a:lnSpc>
                <a:spcPct val="90000"/>
              </a:lnSpc>
              <a:spcBef>
                <a:spcPts val="500"/>
              </a:spcBef>
              <a:buSzPts val="1800"/>
              <a:buFont typeface="Arial"/>
              <a:buChar char="•"/>
            </a:pPr>
            <a:r>
              <a:rPr lang="en-US" sz="1400" b="1" dirty="0">
                <a:solidFill>
                  <a:srgbClr val="595959"/>
                </a:solidFill>
              </a:rPr>
              <a:t>In use: </a:t>
            </a:r>
            <a:r>
              <a:rPr lang="en-US" sz="1400" dirty="0">
                <a:solidFill>
                  <a:srgbClr val="595959"/>
                </a:solidFill>
              </a:rPr>
              <a:t>4 recordings and 26 s of speech so far, 1 passage verified by a native speaker</a:t>
            </a:r>
          </a:p>
          <a:p>
            <a:pPr marL="457200" indent="-342900">
              <a:lnSpc>
                <a:spcPct val="90000"/>
              </a:lnSpc>
              <a:spcBef>
                <a:spcPts val="500"/>
              </a:spcBef>
              <a:buSzPts val="1800"/>
              <a:buFont typeface="Arial"/>
              <a:buChar char="•"/>
            </a:pPr>
            <a:r>
              <a:rPr lang="en-US" sz="1400" b="1" dirty="0">
                <a:solidFill>
                  <a:srgbClr val="595959"/>
                </a:solidFill>
              </a:rPr>
              <a:t>140 dialects </a:t>
            </a:r>
            <a:r>
              <a:rPr lang="en-US" sz="1400" dirty="0">
                <a:solidFill>
                  <a:srgbClr val="595959"/>
                </a:solidFill>
              </a:rPr>
              <a:t>catalogued with region, script, ISO code and Vani’s language hint</a:t>
            </a:r>
          </a:p>
          <a:p>
            <a:pPr marL="457200" indent="-342900">
              <a:lnSpc>
                <a:spcPct val="90000"/>
              </a:lnSpc>
              <a:spcBef>
                <a:spcPts val="500"/>
              </a:spcBef>
              <a:buSzPts val="1800"/>
              <a:buFont typeface="Arial"/>
              <a:buChar char="•"/>
            </a:pPr>
            <a:r>
              <a:rPr lang="en-US" sz="1400" b="1" dirty="0">
                <a:solidFill>
                  <a:srgbClr val="595959"/>
                </a:solidFill>
              </a:rPr>
              <a:t>110+ automated tests </a:t>
            </a:r>
            <a:r>
              <a:rPr lang="en-US" sz="1400" dirty="0">
                <a:solidFill>
                  <a:srgbClr val="595959"/>
                </a:solidFill>
              </a:rPr>
              <a:t>pass, plus tests on real PostgreSQL; end-to-end browser tests show no errors</a:t>
            </a:r>
          </a:p>
          <a:p>
            <a:pPr marL="457200" indent="-342900">
              <a:lnSpc>
                <a:spcPct val="90000"/>
              </a:lnSpc>
              <a:spcBef>
                <a:spcPts val="500"/>
              </a:spcBef>
              <a:buSzPts val="1800"/>
              <a:buFont typeface="Arial"/>
              <a:buChar char="•"/>
            </a:pPr>
            <a:r>
              <a:rPr lang="en-US" sz="1400" b="1" dirty="0">
                <a:solidFill>
                  <a:srgbClr val="595959"/>
                </a:solidFill>
              </a:rPr>
              <a:t>Pre-processing: </a:t>
            </a:r>
            <a:r>
              <a:rPr lang="en-US" sz="1400" dirty="0">
                <a:solidFill>
                  <a:srgbClr val="595959"/>
                </a:solidFill>
              </a:rPr>
              <a:t>a 2 MB stereo WAV becomes 24 KB before it is sent to Whisper</a:t>
            </a:r>
          </a:p>
          <a:p>
            <a:pPr marL="457200" indent="-342900">
              <a:lnSpc>
                <a:spcPct val="90000"/>
              </a:lnSpc>
              <a:spcBef>
                <a:spcPts val="500"/>
              </a:spcBef>
              <a:buSzPts val="1800"/>
              <a:buFont typeface="Arial"/>
              <a:buChar char="•"/>
            </a:pPr>
            <a:r>
              <a:rPr lang="en-US" sz="1400" b="1" dirty="0">
                <a:solidFill>
                  <a:srgbClr val="595959"/>
                </a:solidFill>
              </a:rPr>
              <a:t>Works offline: </a:t>
            </a:r>
            <a:r>
              <a:rPr lang="en-US" sz="1400" dirty="0">
                <a:solidFill>
                  <a:srgbClr val="595959"/>
                </a:solidFill>
              </a:rPr>
              <a:t>recordings are saved on the device and upload by themselves later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7_Theme1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377</TotalTime>
  <Words>1310</Words>
  <Application>Microsoft Office PowerPoint</Application>
  <PresentationFormat>On-screen Show (4:3)</PresentationFormat>
  <Paragraphs>104</Paragraphs>
  <Slides>13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Times New Roman</vt:lpstr>
      <vt:lpstr>Verdana</vt:lpstr>
      <vt:lpstr>Arial</vt:lpstr>
      <vt:lpstr>2_Simple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Mohamed Ali</cp:lastModifiedBy>
  <cp:revision>27</cp:revision>
  <cp:lastPrinted>2024-09-27T04:20:50Z</cp:lastPrinted>
  <dcterms:created xsi:type="dcterms:W3CDTF">2023-10-20T09:46:10Z</dcterms:created>
  <dcterms:modified xsi:type="dcterms:W3CDTF">2026-10-30T09:15:23Z</dcterms:modified>
</cp:coreProperties>
</file>