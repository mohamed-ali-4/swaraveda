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4"/>
  </p:notesMasterIdLst>
  <p:sldIdLst>
    <p:sldId id="279" r:id="rId2"/>
    <p:sldId id="281" r:id="rId3"/>
    <p:sldId id="291" r:id="rId4"/>
    <p:sldId id="290" r:id="rId5"/>
    <p:sldId id="289" r:id="rId6"/>
    <p:sldId id="288" r:id="rId7"/>
    <p:sldId id="287" r:id="rId8"/>
    <p:sldId id="292" r:id="rId170"/>
    <p:sldId id="286" r:id="rId9"/>
    <p:sldId id="285" r:id="rId10"/>
    <p:sldId id="284" r:id="rId11"/>
    <p:sldId id="283" r:id="rId12"/>
    <p:sldId id="282" r:id="rId13"/>
  </p:sldIdLst>
  <p:sldSz cx="9144000" cy="6858000" type="screen4x3"/>
  <p:notesSz cx="7010400" cy="9296400"/>
  <p:embeddedFontLs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3" roundtripDataSignature="AMtx7mgtpVR0efpXsYw/YFNiXHcO2TZr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A88FF-DACD-4CFD-880C-84CF54BED1EB}" v="1" dt="2026-10-30T00:52:11.041"/>
  </p1510:revLst>
</p1510:revInfo>
</file>

<file path=ppt/tableStyles.xml><?xml version="1.0" encoding="utf-8"?>
<a:tblStyleLst xmlns:a="http://schemas.openxmlformats.org/drawingml/2006/main" def="{C2CB93E1-9EAC-49F2-A970-9903F78E92AF}">
  <a:tblStyle styleId="{C2CB93E1-9EAC-49F2-A970-9903F78E92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163" Type="http://customschemas.google.com/relationships/presentationmetadata" Target="metadata"/><Relationship Id="rId3" Type="http://schemas.openxmlformats.org/officeDocument/2006/relationships/slide" Target="slides/slide2.xml"/><Relationship Id="rId16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6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65" Type="http://schemas.openxmlformats.org/officeDocument/2006/relationships/viewProps" Target="viewProps.xml"/><Relationship Id="rId10" Type="http://schemas.openxmlformats.org/officeDocument/2006/relationships/slide" Target="slides/slide9.xml"/><Relationship Id="rId164" Type="http://schemas.openxmlformats.org/officeDocument/2006/relationships/presProps" Target="presProps.xml"/><Relationship Id="rId16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68" Type="http://schemas.microsoft.com/office/2016/11/relationships/changesInfo" Target="changesInfos/changesInfo1.xml"/>  <Relationship Id="rId170" Type="http://schemas.openxmlformats.org/officeDocument/2006/relationships/slide" Target="slides/slide13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Ali" userId="29f6f19c30ecbb8b" providerId="LiveId" clId="{231A9F74-67CD-4842-A08F-6BBCB5EE2F08}"/>
    <pc:docChg chg="custSel modSld">
      <pc:chgData name="Mohamed Ali" userId="29f6f19c30ecbb8b" providerId="LiveId" clId="{231A9F74-67CD-4842-A08F-6BBCB5EE2F08}" dt="2026-10-30T00:59:03.731" v="45" actId="14100"/>
      <pc:docMkLst>
        <pc:docMk/>
      </pc:docMkLst>
      <pc:sldChg chg="addSp delSp modSp mod">
        <pc:chgData name="Mohamed Ali" userId="29f6f19c30ecbb8b" providerId="LiveId" clId="{231A9F74-67CD-4842-A08F-6BBCB5EE2F08}" dt="2026-10-30T00:57:17.328" v="23" actId="14100"/>
        <pc:sldMkLst>
          <pc:docMk/>
          <pc:sldMk cId="0" sldId="279"/>
        </pc:sldMkLst>
        <pc:spChg chg="add del mod">
          <ac:chgData name="Mohamed Ali" userId="29f6f19c30ecbb8b" providerId="LiveId" clId="{231A9F74-67CD-4842-A08F-6BBCB5EE2F08}" dt="2026-10-30T00:52:36.815" v="11" actId="478"/>
          <ac:spMkLst>
            <pc:docMk/>
            <pc:sldMk cId="0" sldId="279"/>
            <ac:spMk id="4" creationId="{F4FC307A-C27E-41BD-6B6E-42BEF4ED4E3B}"/>
          </ac:spMkLst>
        </pc:spChg>
        <pc:spChg chg="add del mod">
          <ac:chgData name="Mohamed Ali" userId="29f6f19c30ecbb8b" providerId="LiveId" clId="{231A9F74-67CD-4842-A08F-6BBCB5EE2F08}" dt="2026-10-30T00:52:11.723" v="7"/>
          <ac:spMkLst>
            <pc:docMk/>
            <pc:sldMk cId="0" sldId="279"/>
            <ac:spMk id="6" creationId="{52B10481-C929-E5AC-A51B-DF82A8592242}"/>
          </ac:spMkLst>
        </pc:spChg>
        <pc:spChg chg="del mod">
          <ac:chgData name="Mohamed Ali" userId="29f6f19c30ecbb8b" providerId="LiveId" clId="{231A9F74-67CD-4842-A08F-6BBCB5EE2F08}" dt="2026-10-30T00:51:47.980" v="1" actId="478"/>
          <ac:spMkLst>
            <pc:docMk/>
            <pc:sldMk cId="0" sldId="279"/>
            <ac:spMk id="9" creationId="{8601123A-037C-7F88-38B6-72381C8451D3}"/>
          </ac:spMkLst>
        </pc:spChg>
        <pc:spChg chg="add mod">
          <ac:chgData name="Mohamed Ali" userId="29f6f19c30ecbb8b" providerId="LiveId" clId="{231A9F74-67CD-4842-A08F-6BBCB5EE2F08}" dt="2026-10-30T00:52:59.749" v="13" actId="1076"/>
          <ac:spMkLst>
            <pc:docMk/>
            <pc:sldMk cId="0" sldId="279"/>
            <ac:spMk id="10" creationId="{37E5A12D-4451-A112-CC60-53158F6F61F9}"/>
          </ac:spMkLst>
        </pc:spChg>
        <pc:spChg chg="del mod">
          <ac:chgData name="Mohamed Ali" userId="29f6f19c30ecbb8b" providerId="LiveId" clId="{231A9F74-67CD-4842-A08F-6BBCB5EE2F08}" dt="2026-10-30T00:53:05.895" v="14" actId="478"/>
          <ac:spMkLst>
            <pc:docMk/>
            <pc:sldMk cId="0" sldId="279"/>
            <ac:spMk id="11" creationId="{08AB2A1C-C731-5E57-315E-E8A8ED4072E4}"/>
          </ac:spMkLst>
        </pc:spChg>
        <pc:spChg chg="add mod">
          <ac:chgData name="Mohamed Ali" userId="29f6f19c30ecbb8b" providerId="LiveId" clId="{231A9F74-67CD-4842-A08F-6BBCB5EE2F08}" dt="2026-10-30T00:53:46.803" v="17" actId="1076"/>
          <ac:spMkLst>
            <pc:docMk/>
            <pc:sldMk cId="0" sldId="279"/>
            <ac:spMk id="13" creationId="{5303CF48-8358-8837-FACA-C852DDC4AC97}"/>
          </ac:spMkLst>
        </pc:spChg>
        <pc:picChg chg="add mod">
          <ac:chgData name="Mohamed Ali" userId="29f6f19c30ecbb8b" providerId="LiveId" clId="{231A9F74-67CD-4842-A08F-6BBCB5EE2F08}" dt="2026-10-30T00:57:17.328" v="23" actId="14100"/>
          <ac:picMkLst>
            <pc:docMk/>
            <pc:sldMk cId="0" sldId="279"/>
            <ac:picMk id="15" creationId="{B4B6215F-3107-4909-D0B0-2DEAD47D1D76}"/>
          </ac:picMkLst>
        </pc:picChg>
      </pc:sldChg>
      <pc:sldChg chg="addSp delSp modSp mod">
        <pc:chgData name="Mohamed Ali" userId="29f6f19c30ecbb8b" providerId="LiveId" clId="{231A9F74-67CD-4842-A08F-6BBCB5EE2F08}" dt="2026-10-30T00:58:27.674" v="37" actId="14100"/>
        <pc:sldMkLst>
          <pc:docMk/>
          <pc:sldMk cId="0" sldId="281"/>
        </pc:sldMkLst>
        <pc:spChg chg="del">
          <ac:chgData name="Mohamed Ali" userId="29f6f19c30ecbb8b" providerId="LiveId" clId="{231A9F74-67CD-4842-A08F-6BBCB5EE2F08}" dt="2026-10-30T00:57:59.881" v="28" actId="478"/>
          <ac:spMkLst>
            <pc:docMk/>
            <pc:sldMk cId="0" sldId="281"/>
            <ac:spMk id="3" creationId="{BA677A83-D006-E1F4-CCF8-948027C21AB2}"/>
          </ac:spMkLst>
        </pc:spChg>
        <pc:spChg chg="del mod">
          <ac:chgData name="Mohamed Ali" userId="29f6f19c30ecbb8b" providerId="LiveId" clId="{231A9F74-67CD-4842-A08F-6BBCB5EE2F08}" dt="2026-10-30T00:58:11.966" v="32" actId="478"/>
          <ac:spMkLst>
            <pc:docMk/>
            <pc:sldMk cId="0" sldId="281"/>
            <ac:spMk id="5" creationId="{13186C97-59A2-67F5-3892-203B43C861C9}"/>
          </ac:spMkLst>
        </pc:spChg>
        <pc:picChg chg="add mod">
          <ac:chgData name="Mohamed Ali" userId="29f6f19c30ecbb8b" providerId="LiveId" clId="{231A9F74-67CD-4842-A08F-6BBCB5EE2F08}" dt="2026-10-30T00:58:27.674" v="37" actId="14100"/>
          <ac:picMkLst>
            <pc:docMk/>
            <pc:sldMk cId="0" sldId="281"/>
            <ac:picMk id="4" creationId="{0CFC4DF3-BDF1-6D39-E0E0-95377F2163D9}"/>
          </ac:picMkLst>
        </pc:picChg>
      </pc:sldChg>
      <pc:sldChg chg="addSp delSp modSp mod">
        <pc:chgData name="Mohamed Ali" userId="29f6f19c30ecbb8b" providerId="LiveId" clId="{231A9F74-67CD-4842-A08F-6BBCB5EE2F08}" dt="2026-10-30T00:59:03.731" v="45" actId="14100"/>
        <pc:sldMkLst>
          <pc:docMk/>
          <pc:sldMk cId="0" sldId="285"/>
        </pc:sldMkLst>
        <pc:spChg chg="del">
          <ac:chgData name="Mohamed Ali" userId="29f6f19c30ecbb8b" providerId="LiveId" clId="{231A9F74-67CD-4842-A08F-6BBCB5EE2F08}" dt="2026-10-30T00:58:50.024" v="40" actId="478"/>
          <ac:spMkLst>
            <pc:docMk/>
            <pc:sldMk cId="0" sldId="285"/>
            <ac:spMk id="3" creationId="{BA677A83-D006-E1F4-CCF8-948027C21AB2}"/>
          </ac:spMkLst>
        </pc:spChg>
        <pc:spChg chg="del mod">
          <ac:chgData name="Mohamed Ali" userId="29f6f19c30ecbb8b" providerId="LiveId" clId="{231A9F74-67CD-4842-A08F-6BBCB5EE2F08}" dt="2026-10-30T00:58:46.500" v="39" actId="478"/>
          <ac:spMkLst>
            <pc:docMk/>
            <pc:sldMk cId="0" sldId="285"/>
            <ac:spMk id="5" creationId="{13186C97-59A2-67F5-3892-203B43C861C9}"/>
          </ac:spMkLst>
        </pc:spChg>
        <pc:picChg chg="add mod">
          <ac:chgData name="Mohamed Ali" userId="29f6f19c30ecbb8b" providerId="LiveId" clId="{231A9F74-67CD-4842-A08F-6BBCB5EE2F08}" dt="2026-10-30T00:59:03.731" v="45" actId="14100"/>
          <ac:picMkLst>
            <pc:docMk/>
            <pc:sldMk cId="0" sldId="285"/>
            <ac:picMk id="4" creationId="{2CBC3EA0-6A61-A69C-F4DE-DAFDF30506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3919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5700" y="708025"/>
            <a:ext cx="4725988" cy="354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4286" y="4490032"/>
            <a:ext cx="5627793" cy="425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3919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200" smtClean="0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SzPts val="1200"/>
              </a:pPr>
              <a:t>‹#›</a:t>
            </a:fld>
            <a:endParaRPr lang="en-US" sz="18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B57AB778-DB4D-F3BB-51B4-E2FAB23F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>
            <a:extLst>
              <a:ext uri="{FF2B5EF4-FFF2-40B4-BE49-F238E27FC236}">
                <a16:creationId xmlns:a16="http://schemas.microsoft.com/office/drawing/2014/main" id="{B982CE94-6BC2-B3FD-FB7A-A530322D8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>
            <a:extLst>
              <a:ext uri="{FF2B5EF4-FFF2-40B4-BE49-F238E27FC236}">
                <a16:creationId xmlns:a16="http://schemas.microsoft.com/office/drawing/2014/main" id="{EF36C0A9-EB14-4321-7C0F-93629295E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967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12454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2476667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4001" y="552002"/>
            <a:ext cx="1974051" cy="400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861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214" y="6306736"/>
            <a:ext cx="2217574" cy="449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2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1035333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2009067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001" y="288000"/>
            <a:ext cx="2255043" cy="86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3145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8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;p1">
            <a:extLst>
              <a:ext uri="{FF2B5EF4-FFF2-40B4-BE49-F238E27FC236}">
                <a16:creationId xmlns:a16="http://schemas.microsoft.com/office/drawing/2014/main" id="{DFD4F891-E7F7-9351-879B-C1AEE0DAC8A0}"/>
              </a:ext>
            </a:extLst>
          </p:cNvPr>
          <p:cNvSpPr txBox="1"/>
          <p:nvPr/>
        </p:nvSpPr>
        <p:spPr>
          <a:xfrm>
            <a:off x="1827162" y="1091100"/>
            <a:ext cx="6411639" cy="65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2000"/>
            </a:pPr>
            <a:r>
              <a:rPr lang="en-GB" sz="2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Computer Science and Engineering</a:t>
            </a:r>
            <a:endParaRPr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ts val="1600"/>
            </a:pPr>
            <a:r>
              <a:rPr lang="en-GB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JP Nagar, </a:t>
            </a:r>
            <a:r>
              <a:rPr lang="en-GB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Kothanur</a:t>
            </a:r>
            <a:r>
              <a:rPr lang="en-GB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Bengaluru - 560076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Google Shape;59;p1">
            <a:extLst>
              <a:ext uri="{FF2B5EF4-FFF2-40B4-BE49-F238E27FC236}">
                <a16:creationId xmlns:a16="http://schemas.microsoft.com/office/drawing/2014/main" id="{99B6F956-E69F-C22A-B6BC-EE537FF41AEC}"/>
              </a:ext>
            </a:extLst>
          </p:cNvPr>
          <p:cNvSpPr txBox="1"/>
          <p:nvPr/>
        </p:nvSpPr>
        <p:spPr>
          <a:xfrm>
            <a:off x="2013975" y="2884163"/>
            <a:ext cx="5441625" cy="108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GB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Academic year 2025 – 2026 Odd (5th) semester</a:t>
            </a:r>
            <a:r>
              <a:rPr lang="en-GB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Mini Project (BCS586) </a:t>
            </a: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Review 2 Presentation</a:t>
            </a: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60;p1">
            <a:extLst>
              <a:ext uri="{FF2B5EF4-FFF2-40B4-BE49-F238E27FC236}">
                <a16:creationId xmlns:a16="http://schemas.microsoft.com/office/drawing/2014/main" id="{4BA3482C-A508-B52E-EEB8-285559015CBA}"/>
              </a:ext>
            </a:extLst>
          </p:cNvPr>
          <p:cNvSpPr txBox="1"/>
          <p:nvPr/>
        </p:nvSpPr>
        <p:spPr>
          <a:xfrm>
            <a:off x="573525" y="2218725"/>
            <a:ext cx="7996950" cy="121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SzPts val="3200"/>
            </a:pPr>
            <a:r>
              <a:rPr lang="en-GB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SwaraVeda: A Community-Driven Digital Archive for Endangered Indian Dialects</a:t>
            </a:r>
            <a:endParaRPr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61;p1">
            <a:extLst>
              <a:ext uri="{FF2B5EF4-FFF2-40B4-BE49-F238E27FC236}">
                <a16:creationId xmlns:a16="http://schemas.microsoft.com/office/drawing/2014/main" id="{37E5A12D-4451-A112-CC60-53158F6F61F9}"/>
              </a:ext>
            </a:extLst>
          </p:cNvPr>
          <p:cNvSpPr/>
          <p:nvPr/>
        </p:nvSpPr>
        <p:spPr>
          <a:xfrm>
            <a:off x="573525" y="4816144"/>
            <a:ext cx="5004575" cy="1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 by: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LAKSH YADAV                         1RF24CS094</a:t>
            </a:r>
            <a:endParaRPr lang="en-IN"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MIKUL SWAMY                        1RF24CS103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MOHAMAD AASHIM               1RF24CS105</a:t>
            </a: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MOHAMED ALI </a:t>
            </a: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1RF24CS106</a:t>
            </a: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" name="Google Shape;62;p1">
            <a:extLst>
              <a:ext uri="{FF2B5EF4-FFF2-40B4-BE49-F238E27FC236}">
                <a16:creationId xmlns:a16="http://schemas.microsoft.com/office/drawing/2014/main" id="{5303CF48-8358-8837-FACA-C852DDC4AC97}"/>
              </a:ext>
            </a:extLst>
          </p:cNvPr>
          <p:cNvSpPr txBox="1"/>
          <p:nvPr/>
        </p:nvSpPr>
        <p:spPr>
          <a:xfrm>
            <a:off x="5478054" y="4901944"/>
            <a:ext cx="32379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Guidance of:</a:t>
            </a:r>
            <a:endParaRPr sz="18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Mrs. Priyanka K R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Assistant Professor</a:t>
            </a:r>
            <a:b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Dept. of CS&amp;E</a:t>
            </a: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RVITM</a:t>
            </a: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B6215F-3107-4909-D0B0-2DEAD47D1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0"/>
            <a:ext cx="2377440" cy="109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FC4DF3-BDF1-6D39-E0E0-95377F216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736"/>
            <a:ext cx="9144000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724C33-4140-1E29-D395-78FB2469D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676"/>
            <a:ext cx="9144000" cy="55933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011680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Many Indian dialects are purely oral: no written texts, no dictionaries, no speech technology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Elders carry songs, rituals and knowledge (e.g. Tulu paddanas) that are lost when they are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Speech AI works for Hindi, Kannada or Tamil, but not for Tulu, Toda, Kodava or Santali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Manual transcription is slow and needs native speakers, so recordings sit unused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SwaraVeda pairs an AI first draft (Vani) with community correction, so every recorded hour becomes verified, searchable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Problem Statement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3154680"/>
            <a:ext cx="758952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Collect recordings in the browser or by upload, with explicit speaker consent, even without internet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Pre-process audio and generate timestamped transcripts automatically with Vani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Let native speakers correct, and verifiers approve, every passage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Make the archive searchable by words and by meaning, with passage playback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Export corrected, consented data to train speech models for these dialects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</a:rPr>
              <a:t>Problem statement: </a:t>
            </a:r>
            <a:r>
              <a:rPr sz="1500" i="0">
                <a:solidFill>
                  <a:srgbClr val="595959"/>
                </a:solidFill>
              </a:rPr>
              <a:t>There is no simple, consent-aware platform where communities can record endangered dialects, get machine-drafted transcripts, correct and verify them, and turn them into a reusable dataset for speech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</a:rPr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- Methodology (Architecture diagram)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262626"/>
                </a:solidFill>
              </a:rPr>
              <a:t>Web client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React + TypeScript, Vercel
recording, offline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21488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262626"/>
                </a:solidFill>
              </a:rPr>
              <a:t>REST API (FastAPI)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auth, recordings, review,
search, export •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21488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262626"/>
                </a:solidFill>
              </a:rPr>
              <a:t>Vani AI services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Whisper large-v3 (speech)
Llama 3.3 • MiniLM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262626"/>
                </a:solidFill>
              </a:rPr>
              <a:t>Object storage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Supabase Storage
audio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7033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262626"/>
                </a:solidFill>
              </a:rPr>
              <a:t>Database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PostgreSQL + pgvector
(Supabase)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37033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262626"/>
                </a:solidFill>
              </a:rPr>
              <a:t>Audio pre-processing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ffmpeg: 16 kHz mono,
high-pass, loudness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578608"/>
            <a:ext cx="521208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22860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REST + JWT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33288" y="2578608"/>
            <a:ext cx="521208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77840" y="22860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audio, 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19072" y="3017520"/>
            <a:ext cx="0" cy="6858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3246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signed upload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017520"/>
            <a:ext cx="0" cy="6858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3246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SQL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33288" y="2834640"/>
            <a:ext cx="521208" cy="109728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62626"/>
                </a:solidFill>
              </a:rPr>
              <a:t>1. Record &amp;
consent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82495" y="5404104"/>
            <a:ext cx="219457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01952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62626"/>
                </a:solidFill>
              </a:rPr>
              <a:t>2. Pre-process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35808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55264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62626"/>
                </a:solidFill>
              </a:rPr>
              <a:t>3. Transcribe
(Vani)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08576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62626"/>
                </a:solidFill>
              </a:rPr>
              <a:t>4. Correct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42432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61888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62626"/>
                </a:solidFill>
              </a:rPr>
              <a:t>5. Verify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95744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0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62626"/>
                </a:solidFill>
              </a:rPr>
              <a:t>6. Search &amp;
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595959"/>
                </a:solidFill>
              </a:rPr>
              <a:t>Methodology: from a voice to verified, searchable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 (Algorithm)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</a:rPr>
              <a:t>Algorithms used in the existing literature related to SwaraVeda</a:t>
            </a:r>
          </a:p>
        </p:txBody>
      </p:sp>
      <p:graphicFrame>
        <p:nvGraphicFramePr>
          <p:cNvPr id="20" name="Literature algorithms table"/>
          <p:cNvGraphicFramePr>
            <a:graphicFrameLocks noGrp="1"/>
          </p:cNvGraphicFramePr>
          <p:nvPr/>
        </p:nvGraphicFramePr>
        <p:xfrm>
          <a:off x="457200" y="2148840"/>
          <a:ext cx="8229600" cy="4672584"/>
        </p:xfrm>
        <a:graphic>
          <a:graphicData uri="http://schemas.openxmlformats.org/drawingml/2006/table">
            <a:tbl>
              <a:tblPr firstRow="1" bandRow="1"/>
              <a:tblGrid>
                <a:gridCol w="1371600"/>
                <a:gridCol w="1828800"/>
                <a:gridCol w="246888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How it was used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Drawback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</a:rPr>
                        <a:t>Povey et al., 2011 (Kaldi)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HMM–GMM / HMM–DNN acoustic model + n-gram language model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Phone models decoded with a pronunciation lexicon (WFST); long the standard for Hindi, Tamil and other Indian-language ASR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Needs a pronunciation dictionary, written text and hundreds of transcribed hours, which unwritten dialects do not have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</a:rPr>
                        <a:t>Baevski et al., 2020 (wav2vec 2.0)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Self-supervised contrastive pre-training + CTC fine-tuning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Learns speech features from unlabelled audio, then fine-tunes ASR on as little as 10 min – 1 h of labelled speech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Every new language still needs labelled transcripts and GPU fine-tuning; plain characters, no punctuation or translation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</a:rPr>
                        <a:t>Javed et al., 2022 (IndicWav2Vec, AI4Bharat)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wav2vec 2.0 pre-trained on 40 Indian languages + CTC + n-gram LM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State-of-the-art ASR for 9 major Indian languages on Indian benchmarks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Covers scheduled languages only; dialects such as Tulu, Toda or Kodava are not supported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</a:rPr>
                        <a:t>Pratap et al., 2023 (Meta MMS)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wav2vec 2.0 + CTC with small per-language adapters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Speech recognition for 1,100+ languages, trained mostly on New Testament readings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Read, religious speech: weak on spontaneous songs, stories and conversation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</a:rPr>
                        <a:t>Radford et al., 2023 (Whisper)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Encoder–decoder Transformer, weakly supervised on 680k hours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Multilingual transcription, timestamps and translation in one model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About 100 languages and none of these dialects; may hallucinate on unseen languages; heavy compute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</a:rPr>
                        <a:t>Reimers &amp; Gurevych, 2019–20 (Sentence-BERT)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Siamese BERT, mean pooling, cosine similarity; multilingual by distillation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Sentence embeddings for semantic search and clustering in 50+ languages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Trained on high-resource text; weaker on dialect, code-mixed and transliterated text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</a:rPr>
                        <a:t>Ardila et al., 2020 (Mozilla Common Voice)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Crowd-sourced read speech, validated by community votes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Volunteers read given sentences; a clip with 2 up-votes is accepted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</a:rPr>
                        <a:t>Needs written sentences to read aloud, so it cannot capture oral songs, stories or unwritten dialects</a:t>
                      </a: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waraVeda takeaway"/>
          <p:cNvSpPr txBox="1"/>
          <p:nvPr/>
        </p:nvSpPr>
        <p:spPr>
          <a:xfrm>
            <a:off x="457200" y="6217920"/>
            <a:ext cx="82296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dirty="0">
                <a:solidFill>
                  <a:srgbClr val="404040"/>
                </a:solidFill>
              </a:rPr>
              <a:t>Gap SwaraVeda fills: </a:t>
            </a:r>
            <a:r>
              <a:rPr lang="en-US" sz="1000" dirty="0">
                <a:solidFill>
                  <a:srgbClr val="595959"/>
                </a:solidFill>
              </a:rPr>
              <a:t>Whisper drafts with a related-language hint, native speakers correct and verify, and the archive becomes the labelled dataset these methods lack.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2606040" cy="1628775"/>
          </a:xfrm>
          <a:prstGeom prst="rect">
            <a:avLst/>
          </a:prstGeom>
          <a:ln w="9525">
            <a:solidFill>
              <a:srgbClr val="8C8C8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630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Sign-in page: logo in 10 scripts</a:t>
            </a:r>
          </a:p>
        </p:txBody>
      </p:sp>
      <p:pic>
        <p:nvPicPr>
          <p:cNvPr id="6" name="Picture 5" descr="reco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39" y="2011680"/>
            <a:ext cx="2606040" cy="1628775"/>
          </a:xfrm>
          <a:prstGeom prst="rect">
            <a:avLst/>
          </a:prstGeom>
          <a:ln w="9525">
            <a:solidFill>
              <a:srgbClr val="8C8C8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91839" y="3630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Recording page: Vani’s transcript</a:t>
            </a:r>
          </a:p>
        </p:txBody>
      </p:sp>
      <p:pic>
        <p:nvPicPr>
          <p:cNvPr id="8" name="Picture 7" descr="she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2011680"/>
            <a:ext cx="2606040" cy="1628775"/>
          </a:xfrm>
          <a:prstGeom prst="rect">
            <a:avLst/>
          </a:prstGeom>
          <a:ln w="9525">
            <a:solidFill>
              <a:srgbClr val="8C8C8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80759" y="3630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Dialect shelf: 74 dialects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7589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b="1" dirty="0">
                <a:solidFill>
                  <a:srgbClr val="595959"/>
                </a:solidFill>
              </a:rPr>
              <a:t>Deployed live: </a:t>
            </a:r>
            <a:r>
              <a:rPr lang="en-US" sz="1400" dirty="0">
                <a:solidFill>
                  <a:srgbClr val="595959"/>
                </a:solidFill>
              </a:rPr>
              <a:t>swara-veda.vercel.app with a FastAPI server on Render and a Supabase database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b="1" dirty="0">
                <a:solidFill>
                  <a:srgbClr val="595959"/>
                </a:solidFill>
              </a:rPr>
              <a:t>74 dialects </a:t>
            </a:r>
            <a:r>
              <a:rPr lang="en-US" sz="1400" dirty="0">
                <a:solidFill>
                  <a:srgbClr val="595959"/>
                </a:solidFill>
              </a:rPr>
              <a:t>catalogued with region, script, ISO code and Vani’s language hint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b="1" dirty="0">
                <a:solidFill>
                  <a:srgbClr val="595959"/>
                </a:solidFill>
              </a:rPr>
              <a:t>100+ automated tests </a:t>
            </a:r>
            <a:r>
              <a:rPr lang="en-US" sz="1400" dirty="0">
                <a:solidFill>
                  <a:srgbClr val="595959"/>
                </a:solidFill>
              </a:rPr>
              <a:t>pass, plus tests on real PostgreSQL; end-to-end browser tests show no errors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b="1" dirty="0">
                <a:solidFill>
                  <a:srgbClr val="595959"/>
                </a:solidFill>
              </a:rPr>
              <a:t>Pre-processing: </a:t>
            </a:r>
            <a:r>
              <a:rPr lang="en-US" sz="1400" dirty="0">
                <a:solidFill>
                  <a:srgbClr val="595959"/>
                </a:solidFill>
              </a:rPr>
              <a:t>a 2 MB stereo WAV becomes 24 KB before it is sent to Whisper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b="1" dirty="0">
                <a:solidFill>
                  <a:srgbClr val="595959"/>
                </a:solidFill>
              </a:rPr>
              <a:t>Works offline: </a:t>
            </a:r>
            <a:r>
              <a:rPr lang="en-US" sz="1400" dirty="0">
                <a:solidFill>
                  <a:srgbClr val="595959"/>
                </a:solidFill>
              </a:rPr>
              <a:t>recordings are saved on the device and upload by themselves later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BC3EA0-6A61-A69C-F4DE-DAFDF305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736"/>
            <a:ext cx="9143999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to be completed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011680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Field data: </a:t>
            </a:r>
            <a:r>
              <a:rPr lang="en-US" sz="1600" dirty="0">
                <a:solidFill>
                  <a:srgbClr val="595959"/>
                </a:solidFill>
              </a:rPr>
              <a:t>record with Tulu and Kodava speakers; correct and verify the transcripts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Storage setup: </a:t>
            </a:r>
            <a:r>
              <a:rPr lang="en-US" sz="1600" dirty="0">
                <a:solidFill>
                  <a:srgbClr val="595959"/>
                </a:solidFill>
              </a:rPr>
              <a:t>finish the cloud storage configuration so uploads work on the live server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Dataset dashboard: </a:t>
            </a:r>
            <a:r>
              <a:rPr lang="en-US" sz="1600" dirty="0">
                <a:solidFill>
                  <a:srgbClr val="595959"/>
                </a:solidFill>
              </a:rPr>
              <a:t>show how many verified hours Vani has for each dialect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Speakers: </a:t>
            </a:r>
            <a:r>
              <a:rPr lang="en-US" sz="1600" dirty="0">
                <a:solidFill>
                  <a:srgbClr val="595959"/>
                </a:solidFill>
              </a:rPr>
              <a:t>tell speakers apart in a recording (diarization)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Accessibility: </a:t>
            </a:r>
            <a:r>
              <a:rPr lang="en-US" sz="1600" dirty="0">
                <a:solidFill>
                  <a:srgbClr val="595959"/>
                </a:solidFill>
              </a:rPr>
              <a:t>interface in Kannada, Hindi and other Indian languages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Train Vani: </a:t>
            </a:r>
            <a:r>
              <a:rPr lang="en-US" sz="1600" dirty="0">
                <a:solidFill>
                  <a:srgbClr val="595959"/>
                </a:solidFill>
              </a:rPr>
              <a:t>fine-tune Whisper on the exported dataset and measure word error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011680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UNESCO, Atlas of the World’s Languages in Danger, 3rd ed., Paris: UNESCO Publishing, 2010.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A. Radford, J. W. Kim, T. Xu, G. Brockman, C. McLeavey and I. Sutskever, “Robust Speech Recognition via Large-Scale Weak Supervision,” Proc. ICML, 2023.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N. Reimers and I. Gurevych, “Sentence-BERT: Sentence Embeddings using Siamese BERT-Networks,” Proc. EMNLP-IJCNLP, 2019.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N. Reimers and I. Gurevych, “Making Monolingual Sentence Embeddings Multilingual using Knowledge Distillation,” Proc. EMNLP, 2020.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H. Bredin et al., “pyannote.audio: Neural Building Blocks for Speaker Diarization,” Proc. ICASSP, 2020.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pgvector: open-source vector similarity search for PostgreSQL, github.com/pgvector/pgvector.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SIL International, ISO 639-3 code tables, iso639-3.sil.org.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D. Povey et al., “The Kaldi Speech Recognition Toolkit,” Proc. IEEE ASRU, 2011.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A. Baevski, H. Zhou, A. Mohamed and M. Auli, “wav2vec 2.0: A Framework for Self-Supervised Learning of Speech Representations,” Proc. NeurIPS, 2020.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T. Javed et al., “Towards Building ASR Systems for the Next Billion Users,” Proc. AAAI, 2022.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V. Pratap et al., “Scaling Speech Technology to 1,000+ Languages,” Journal of Machine Learning Research, 2024.</a:t>
            </a:r>
          </a:p>
          <a:p>
            <a:pPr marL="457200" indent="-342900">
              <a:lnSpc>
                <a:spcPct val="900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R. Ardila et al., “Common Voice: A Massively-Multilingual Speech Corpus,” Proc. LREC, 2020.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59236BD8-2EB6-C6B1-A74F-9CF531C8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5;p11">
            <a:extLst>
              <a:ext uri="{FF2B5EF4-FFF2-40B4-BE49-F238E27FC236}">
                <a16:creationId xmlns:a16="http://schemas.microsoft.com/office/drawing/2014/main" id="{80E82BBC-903E-03E5-F615-ED94D1174626}"/>
              </a:ext>
            </a:extLst>
          </p:cNvPr>
          <p:cNvSpPr txBox="1"/>
          <p:nvPr/>
        </p:nvSpPr>
        <p:spPr>
          <a:xfrm>
            <a:off x="1610325" y="2832109"/>
            <a:ext cx="5829300" cy="87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SzPts val="5200"/>
            </a:pPr>
            <a:r>
              <a:rPr lang="en-GB" sz="39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650" b="1" dirty="0"/>
          </a:p>
        </p:txBody>
      </p:sp>
    </p:spTree>
    <p:extLst>
      <p:ext uri="{BB962C8B-B14F-4D97-AF65-F5344CB8AC3E}">
        <p14:creationId xmlns:p14="http://schemas.microsoft.com/office/powerpoint/2010/main" val="3488515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 (Algorithm)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286000"/>
            <a:ext cx="758952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If a job for R is queued or running, return it; otherwise create job J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Download R’s audio (up to 200 MB)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a ← ffmpeg(audio): mono, 16 kHz, high-pass 80 Hz, loudness −18 LUFS, Opus 32 kbps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S ← Whisper-large-v3(a, language = D.asr_language) → timestamped segments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Replace R’s segments with S;  R.status ← transcribed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For each segment s:  s.embedding ← MiniLM(s.text)  (384-dimensional)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J.status ← completed (progress 5 → 25 → 70 → 85 → 100 %); on error J.status ← failed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</a:rPr>
              <a:t>Transcription with Vani — input: recording R with audio file, dialect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</a:rPr>
              <a:t>Also: </a:t>
            </a:r>
            <a:r>
              <a:rPr sz="1200" i="0">
                <a:solidFill>
                  <a:srgbClr val="595959"/>
                </a:solidFill>
              </a:rPr>
              <a:t>keyword search with PostgreSQL full-text ranking; search by meaning with pgvector cosine distance; corrections are re-embedded; offline recordings wait in IndexedDB and upload when the connection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Theme1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</TotalTime>
  <Words>921</Words>
  <Application>Microsoft Office PowerPoint</Application>
  <PresentationFormat>On-screen Show (4:3)</PresentationFormat>
  <Paragraphs>88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Verdana</vt:lpstr>
      <vt:lpstr>2_Simple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Mohamed Ali</cp:lastModifiedBy>
  <cp:revision>26</cp:revision>
  <cp:lastPrinted>2024-09-27T04:20:50Z</cp:lastPrinted>
  <dcterms:created xsi:type="dcterms:W3CDTF">2023-10-20T09:46:10Z</dcterms:created>
  <dcterms:modified xsi:type="dcterms:W3CDTF">2026-10-30T08:43:29Z</dcterms:modified>
</cp:coreProperties>
</file>