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5"/>
  </p:notesMasterIdLst>
  <p:sldIdLst>
    <p:sldId id="279" r:id="rId2"/>
    <p:sldId id="281" r:id="rId3"/>
    <p:sldId id="291" r:id="rId176"/>
    <p:sldId id="290" r:id="rId175"/>
    <p:sldId id="289" r:id="rId174"/>
    <p:sldId id="288" r:id="rId173"/>
    <p:sldId id="287" r:id="rId172"/>
    <p:sldId id="286" r:id="rId171"/>
    <p:sldId id="285" r:id="rId170"/>
    <p:sldId id="284" r:id="rId169"/>
    <p:sldId id="283" r:id="rId168"/>
    <p:sldId id="282" r:id="rId4"/>
  </p:sldIdLst>
  <p:sldSz cx="9144000" cy="6858000" type="screen4x3"/>
  <p:notesSz cx="7010400" cy="9296400"/>
  <p:embeddedFontLst>
    <p:embeddedFont>
      <p:font typeface="Verdana" panose="020B0604030504040204" pitchFamily="3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3" roundtripDataSignature="AMtx7mgtpVR0efpXsYw/YFNiXHcO2TZr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CB93E1-9EAC-49F2-A970-9903F78E92AF}">
  <a:tblStyle styleId="{C2CB93E1-9EAC-49F2-A970-9903F78E92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2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63" Type="http://customschemas.google.com/relationships/presentationmetadata" Target="metadata"/><Relationship Id="rId164" Type="http://schemas.openxmlformats.org/officeDocument/2006/relationships/presProps" Target="presProps.xml"/><Relationship Id="rId165" Type="http://schemas.openxmlformats.org/officeDocument/2006/relationships/viewProps" Target="viewProps.xml"/><Relationship Id="rId166" Type="http://schemas.openxmlformats.org/officeDocument/2006/relationships/theme" Target="theme/theme1.xml"/><Relationship Id="rId167" Type="http://schemas.openxmlformats.org/officeDocument/2006/relationships/tableStyles" Target="tableStyles.xml"/><Relationship Id="rId168" Type="http://schemas.openxmlformats.org/officeDocument/2006/relationships/slide" Target="slides/slide11.xml"/><Relationship Id="rId169" Type="http://schemas.openxmlformats.org/officeDocument/2006/relationships/slide" Target="slides/slide10.xml"/><Relationship Id="rId170" Type="http://schemas.openxmlformats.org/officeDocument/2006/relationships/slide" Target="slides/slide9.xml"/><Relationship Id="rId171" Type="http://schemas.openxmlformats.org/officeDocument/2006/relationships/slide" Target="slides/slide8.xml"/><Relationship Id="rId172" Type="http://schemas.openxmlformats.org/officeDocument/2006/relationships/slide" Target="slides/slide7.xml"/><Relationship Id="rId173" Type="http://schemas.openxmlformats.org/officeDocument/2006/relationships/slide" Target="slides/slide6.xml"/><Relationship Id="rId174" Type="http://schemas.openxmlformats.org/officeDocument/2006/relationships/slide" Target="slides/slide5.xml"/><Relationship Id="rId175" Type="http://schemas.openxmlformats.org/officeDocument/2006/relationships/slide" Target="slides/slide4.xml"/><Relationship Id="rId176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3919" y="1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5700" y="708025"/>
            <a:ext cx="4725988" cy="3544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4286" y="4490032"/>
            <a:ext cx="5627793" cy="425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976837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3919" y="8976837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200" smtClean="0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SzPts val="1200"/>
              </a:pPr>
              <a:t>‹#›</a:t>
            </a:fld>
            <a:endParaRPr lang="en-US" sz="18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B57AB778-DB4D-F3BB-51B4-E2FAB23F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>
            <a:extLst>
              <a:ext uri="{FF2B5EF4-FFF2-40B4-BE49-F238E27FC236}">
                <a16:creationId xmlns:a16="http://schemas.microsoft.com/office/drawing/2014/main" id="{B982CE94-6BC2-B3FD-FB7A-A530322D85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>
            <a:extLst>
              <a:ext uri="{FF2B5EF4-FFF2-40B4-BE49-F238E27FC236}">
                <a16:creationId xmlns:a16="http://schemas.microsoft.com/office/drawing/2014/main" id="{EF36C0A9-EB14-4321-7C0F-93629295E9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59671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1725" y="12454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2476667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4001" y="552002"/>
            <a:ext cx="1974051" cy="400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8618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63214" y="6306736"/>
            <a:ext cx="2217574" cy="449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4284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1725" y="1035333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2009067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001" y="288000"/>
            <a:ext cx="2255043" cy="86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831455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8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;p1">
            <a:extLst>
              <a:ext uri="{FF2B5EF4-FFF2-40B4-BE49-F238E27FC236}">
                <a16:creationId xmlns:a16="http://schemas.microsoft.com/office/drawing/2014/main" id="{DFD4F891-E7F7-9351-879B-C1AEE0DAC8A0}"/>
              </a:ext>
            </a:extLst>
          </p:cNvPr>
          <p:cNvSpPr txBox="1"/>
          <p:nvPr/>
        </p:nvSpPr>
        <p:spPr>
          <a:xfrm>
            <a:off x="1827162" y="1091100"/>
            <a:ext cx="6411639" cy="65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SzPts val="2000"/>
            </a:pPr>
            <a:r>
              <a:rPr lang="en-GB" sz="20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Department of Computer Science and Engineering</a:t>
            </a:r>
            <a:endParaRPr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ts val="1600"/>
            </a:pPr>
            <a:r>
              <a:rPr lang="en-GB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JP Nagar, </a:t>
            </a:r>
            <a:r>
              <a:rPr lang="en-GB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Kothanur</a:t>
            </a:r>
            <a:r>
              <a:rPr lang="en-GB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Bengaluru - 560076</a:t>
            </a:r>
            <a:endParaRPr sz="18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Google Shape;59;p1">
            <a:extLst>
              <a:ext uri="{FF2B5EF4-FFF2-40B4-BE49-F238E27FC236}">
                <a16:creationId xmlns:a16="http://schemas.microsoft.com/office/drawing/2014/main" id="{99B6F956-E69F-C22A-B6BC-EE537FF41AEC}"/>
              </a:ext>
            </a:extLst>
          </p:cNvPr>
          <p:cNvSpPr txBox="1"/>
          <p:nvPr/>
        </p:nvSpPr>
        <p:spPr>
          <a:xfrm>
            <a:off x="2013975" y="2884163"/>
            <a:ext cx="5441625" cy="108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GB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Academic year 2025 – 2026 Odd (5th) semester</a:t>
            </a:r>
            <a:r>
              <a:rPr lang="en-GB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Mini Project (BCS586) </a:t>
            </a: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Review 2 Presentation</a:t>
            </a:r>
            <a:endParaRPr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60;p1">
            <a:extLst>
              <a:ext uri="{FF2B5EF4-FFF2-40B4-BE49-F238E27FC236}">
                <a16:creationId xmlns:a16="http://schemas.microsoft.com/office/drawing/2014/main" id="{4BA3482C-A508-B52E-EEB8-285559015CBA}"/>
              </a:ext>
            </a:extLst>
          </p:cNvPr>
          <p:cNvSpPr txBox="1"/>
          <p:nvPr/>
        </p:nvSpPr>
        <p:spPr>
          <a:xfrm>
            <a:off x="573525" y="2218725"/>
            <a:ext cx="7996950" cy="121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  <a:buSzPts val="3200"/>
            </a:pPr>
            <a:r>
              <a:rPr lang="en-GB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SwaraVeda: A Community-Driven Digital Archive for Endangered Indian Dialects</a:t>
            </a:r>
            <a:endParaRPr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61;p1">
            <a:extLst>
              <a:ext uri="{FF2B5EF4-FFF2-40B4-BE49-F238E27FC236}">
                <a16:creationId xmlns:a16="http://schemas.microsoft.com/office/drawing/2014/main" id="{8601123A-037C-7F88-38B6-72381C8451D3}"/>
              </a:ext>
            </a:extLst>
          </p:cNvPr>
          <p:cNvSpPr/>
          <p:nvPr/>
        </p:nvSpPr>
        <p:spPr>
          <a:xfrm>
            <a:off x="1483144" y="4556625"/>
            <a:ext cx="3268800" cy="10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GB" sz="1350" b="1" i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Presented by:</a:t>
            </a:r>
            <a:r>
              <a:rPr lang="en-GB" sz="135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sz="135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Name- USN</a:t>
            </a:r>
            <a:endParaRPr sz="135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Name - USN</a:t>
            </a:r>
            <a:endParaRPr sz="135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Name - USN</a:t>
            </a:r>
            <a:endParaRPr sz="135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Name - USN</a:t>
            </a:r>
            <a:endParaRPr sz="135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1" name="Google Shape;62;p1">
            <a:extLst>
              <a:ext uri="{FF2B5EF4-FFF2-40B4-BE49-F238E27FC236}">
                <a16:creationId xmlns:a16="http://schemas.microsoft.com/office/drawing/2014/main" id="{08AB2A1C-C731-5E57-315E-E8A8ED4072E4}"/>
              </a:ext>
            </a:extLst>
          </p:cNvPr>
          <p:cNvSpPr txBox="1"/>
          <p:nvPr/>
        </p:nvSpPr>
        <p:spPr>
          <a:xfrm>
            <a:off x="5141813" y="4588800"/>
            <a:ext cx="2428425" cy="94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1350" i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the Guidance of:</a:t>
            </a:r>
            <a:endParaRPr sz="1350" i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Name</a:t>
            </a:r>
            <a:endParaRPr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</a:pPr>
            <a:r>
              <a:rPr lang="en-GB" sz="135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Designation</a:t>
            </a:r>
            <a:br>
              <a:rPr lang="en-GB" sz="135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-GB" sz="135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Dept. of CS&amp;E</a:t>
            </a:r>
            <a:endParaRPr sz="135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RVITM</a:t>
            </a:r>
            <a:endParaRPr sz="135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1593386" y="1909946"/>
            <a:ext cx="7137659" cy="3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10000"/>
          </a:bodyPr>
          <a:lstStyle/>
          <a:p>
            <a:pPr marL="3086100" lvl="8" indent="-257175" defTabSz="685800">
              <a:lnSpc>
                <a:spcPct val="90000"/>
              </a:lnSpc>
              <a:spcBef>
                <a:spcPts val="375"/>
              </a:spcBef>
            </a:pPr>
            <a:r>
              <a:rPr lang="en-GB" sz="1200" b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  <a:endParaRPr sz="1200" dirty="0">
              <a:solidFill>
                <a:srgbClr val="59595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Abstract</a:t>
            </a:r>
            <a:endParaRPr lang="en-IN" sz="2000" dirty="0">
              <a:solidFill>
                <a:srgbClr val="595959"/>
              </a:solidFill>
            </a:endParaRP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Introduction</a:t>
            </a:r>
            <a:endParaRPr lang="en-IN" sz="2000" dirty="0">
              <a:solidFill>
                <a:srgbClr val="595959"/>
              </a:solidFill>
            </a:endParaRP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Objectives and Problem Statement</a:t>
            </a:r>
            <a:endParaRPr lang="en-IN" sz="2000" dirty="0">
              <a:solidFill>
                <a:srgbClr val="595959"/>
              </a:solidFill>
            </a:endParaRP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Proposed Model  - Methodology ( Architecture diagram)</a:t>
            </a: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Implementation Details (Algorithm)</a:t>
            </a: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Results </a:t>
            </a: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Conclusion</a:t>
            </a: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Work to be completed</a:t>
            </a:r>
          </a:p>
          <a:p>
            <a:pPr marL="45720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2000" dirty="0">
                <a:solidFill>
                  <a:srgbClr val="595959"/>
                </a:solidFill>
              </a:rPr>
              <a:t>References</a:t>
            </a:r>
            <a:endParaRPr sz="18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685800" y="2011680"/>
            <a:ext cx="777240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500" dirty="0">
                <a:solidFill>
                  <a:srgbClr val="595959"/>
                </a:solidFill>
              </a:rPr>
              <a:t>India has 197 endangered languages, more than any other country, and most of its dialects exist only as speech. SwaraVeda is a community-driven web archive that records, transcribes and preserves the songs, stories and conversations of endangered Indian dialects.</a:t>
            </a:r>
          </a:p>
          <a:p>
            <a:pPr marL="0" indent="0" algn="just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500" dirty="0">
                <a:solidFill>
                  <a:srgbClr val="595959"/>
                </a:solidFill>
              </a:rPr>
              <a:t>Speakers record or upload audio with explicit consent. The audio is cleaned and Vani, the project’s speech AI agent built on Whisper large-v3, drafts a timestamped transcript. Native speakers correct it in a listening editor and verifiers approve each passage.</a:t>
            </a:r>
          </a:p>
          <a:p>
            <a:pPr marL="0" indent="0" algn="just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500" dirty="0">
                <a:solidFill>
                  <a:srgbClr val="595959"/>
                </a:solidFill>
              </a:rPr>
              <a:t>Verified transcripts become searchable by keyword and by meaning, and are exported as a consented dataset for training speech recognition in low-resource dialects. The system is live, catalogues 74 dialects and works offline.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89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</a:rPr>
              <a:t>Keywords: </a:t>
            </a:r>
            <a:r>
              <a:rPr sz="1100" i="1">
                <a:solidFill>
                  <a:srgbClr val="595959"/>
                </a:solidFill>
              </a:rPr>
              <a:t>endangered languages, speech recognition, Whisper, crowdsourcing, semantic search, language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2011680"/>
            <a:ext cx="758952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Many Indian dialects are purely oral: no written texts, no dictionaries, no speech technology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Elders carry songs, rituals and knowledge (e.g. Tulu paddanas) that are lost when they are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Speech AI works for Hindi, Kannada or Tamil, but not for Tulu, Toda, Kodava or Santali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Manual transcription is slow and needs native speakers, so recordings sit unused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SwaraVeda pairs an AI first draft (Vani) with community correction, so every recorded hour becomes verified, searchable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Problem Statement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3154680"/>
            <a:ext cx="758952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500" dirty="0">
                <a:solidFill>
                  <a:srgbClr val="595959"/>
                </a:solidFill>
              </a:rPr>
              <a:t>Collect recordings in the browser or by upload, with explicit speaker consent, even without internet</a:t>
            </a:r>
          </a:p>
          <a:p>
            <a:pPr marL="457200" indent="-342900">
              <a:lnSpc>
                <a:spcPct val="9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500" dirty="0">
                <a:solidFill>
                  <a:srgbClr val="595959"/>
                </a:solidFill>
              </a:rPr>
              <a:t>Pre-process audio and generate timestamped transcripts automatically with Vani</a:t>
            </a:r>
          </a:p>
          <a:p>
            <a:pPr marL="457200" indent="-342900">
              <a:lnSpc>
                <a:spcPct val="9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500" dirty="0">
                <a:solidFill>
                  <a:srgbClr val="595959"/>
                </a:solidFill>
              </a:rPr>
              <a:t>Let native speakers correct, and verifiers approve, every passage</a:t>
            </a:r>
          </a:p>
          <a:p>
            <a:pPr marL="457200" indent="-342900">
              <a:lnSpc>
                <a:spcPct val="9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500" dirty="0">
                <a:solidFill>
                  <a:srgbClr val="595959"/>
                </a:solidFill>
              </a:rPr>
              <a:t>Make the archive searchable by words and by meaning, with passage playback</a:t>
            </a:r>
          </a:p>
          <a:p>
            <a:pPr marL="457200" indent="-342900">
              <a:lnSpc>
                <a:spcPct val="90000"/>
              </a:lnSpc>
              <a:spcBef>
                <a:spcPts val="900"/>
              </a:spcBef>
              <a:buFont typeface="+mj-lt"/>
              <a:buAutoNum type="arabicPeriod"/>
            </a:pPr>
            <a:r>
              <a:rPr lang="en-US" sz="1500" dirty="0">
                <a:solidFill>
                  <a:srgbClr val="595959"/>
                </a:solidFill>
              </a:rPr>
              <a:t>Export corrected, consented data to train speech models for these dialects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7589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95959"/>
                </a:solidFill>
              </a:rPr>
              <a:t>Problem statement: </a:t>
            </a:r>
            <a:r>
              <a:rPr sz="1500" i="0">
                <a:solidFill>
                  <a:srgbClr val="595959"/>
                </a:solidFill>
              </a:rPr>
              <a:t>There is no simple, consent-aware platform where communities can record endangered dialects, get machine-drafted transcripts, correct and verify them, and turn them into a reusable dataset for speech technology.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i="0" b="1">
                <a:solidFill>
                  <a:srgbClr val="595959"/>
                </a:solidFill>
              </a:rPr>
              <a:t>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 - Methodology (Architecture diagram)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262626"/>
                </a:solidFill>
              </a:rPr>
              <a:t>Web client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React + TypeScript, Vercel
recording, offline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21488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262626"/>
                </a:solidFill>
              </a:rPr>
              <a:t>REST API (FastAPI)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auth, recordings, review,
search, export • Render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21488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262626"/>
                </a:solidFill>
              </a:rPr>
              <a:t>Vani AI services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Whisper large-v3 (speech)
Llama 3.3 • MiniLM embeddings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033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262626"/>
                </a:solidFill>
              </a:rPr>
              <a:t>Object storage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Supabase Storage
audio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37033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262626"/>
                </a:solidFill>
              </a:rPr>
              <a:t>Database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PostgreSQL + pgvector
(Supabase)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37033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262626"/>
                </a:solidFill>
              </a:rPr>
              <a:t>Audio pre-processing</a:t>
            </a:r>
          </a:p>
          <a:p>
            <a:pPr algn="ctr"/>
            <a:r>
              <a:rPr sz="850">
                <a:solidFill>
                  <a:srgbClr val="595959"/>
                </a:solidFill>
              </a:rPr>
              <a:t>ffmpeg: 16 kHz mono,
high-pass, loudness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578608"/>
            <a:ext cx="521208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0" y="22860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595959"/>
                </a:solidFill>
              </a:rPr>
              <a:t>REST + JWT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33288" y="2578608"/>
            <a:ext cx="521208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77840" y="22860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595959"/>
                </a:solidFill>
              </a:rPr>
              <a:t>audio, 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19072" y="3017520"/>
            <a:ext cx="0" cy="6858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83080" y="3246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595959"/>
                </a:solidFill>
              </a:rPr>
              <a:t>signed upload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3017520"/>
            <a:ext cx="0" cy="68580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36008" y="3246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595959"/>
                </a:solidFill>
              </a:rPr>
              <a:t>SQL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33288" y="2834640"/>
            <a:ext cx="521208" cy="109728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262626"/>
                </a:solidFill>
              </a:rPr>
              <a:t>1. Record &amp;
consent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82495" y="5404104"/>
            <a:ext cx="219457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01952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262626"/>
                </a:solidFill>
              </a:rPr>
              <a:t>2. Pre-process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35808" y="5404104"/>
            <a:ext cx="219456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55264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262626"/>
                </a:solidFill>
              </a:rPr>
              <a:t>3. Transcribe
(Vani)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0" y="5404104"/>
            <a:ext cx="219456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08576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262626"/>
                </a:solidFill>
              </a:rPr>
              <a:t>4. Correct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42432" y="5404104"/>
            <a:ext cx="219456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61888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262626"/>
                </a:solidFill>
              </a:rPr>
              <a:t>5. Verify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95744" y="5404104"/>
            <a:ext cx="219456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15200" y="5074920"/>
            <a:ext cx="1133856" cy="658368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262626"/>
                </a:solidFill>
              </a:rPr>
              <a:t>6. Search &amp;
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595959"/>
                </a:solidFill>
              </a:rPr>
              <a:t>Methodology: from a voice to verified, searchable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 (Algorithm)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2286000"/>
            <a:ext cx="758952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If a job for R is queued or running, return it; otherwise create job J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Download R’s audio (up to 200 MB)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a ← ffmpeg(audio): mono, 16 kHz, high-pass 80 Hz, loudness −18 LUFS, Opus 32 kbps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S ← Whisper-large-v3(a, language = D.asr_language) → timestamped segments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Replace R’s segments with S;  R.status ← transcribed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For each segment s:  s.embedding ← MiniLM(s.text)  (384-dimensional)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400" dirty="0">
                <a:solidFill>
                  <a:srgbClr val="595959"/>
                </a:solidFill>
              </a:rPr>
              <a:t>J.status ← completed (progress 5 → 25 → 70 → 85 → 100 %); on error J.status ← failed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0" b="1">
                <a:solidFill>
                  <a:srgbClr val="595959"/>
                </a:solidFill>
              </a:rPr>
              <a:t>Transcription with Vani — input: recording R with audio file, dialect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</a:rPr>
              <a:t>Also: </a:t>
            </a:r>
            <a:r>
              <a:rPr sz="1200" i="0">
                <a:solidFill>
                  <a:srgbClr val="595959"/>
                </a:solidFill>
              </a:rPr>
              <a:t>keyword search with PostgreSQL full-text ranking; search by meaning with pgvector cosine distance; corrections are re-embedded; offline recordings wait in IndexedDB and upload when the connection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2606040" cy="1628775"/>
          </a:xfrm>
          <a:prstGeom prst="rect">
            <a:avLst/>
          </a:prstGeom>
          <a:ln w="9525">
            <a:solidFill>
              <a:srgbClr val="8C8C8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02920" y="36301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Sign-in page: logo in 10 scripts</a:t>
            </a:r>
          </a:p>
        </p:txBody>
      </p:sp>
      <p:pic>
        <p:nvPicPr>
          <p:cNvPr id="6" name="Picture 5" descr="reco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39" y="2011680"/>
            <a:ext cx="2606040" cy="1628775"/>
          </a:xfrm>
          <a:prstGeom prst="rect">
            <a:avLst/>
          </a:prstGeom>
          <a:ln w="9525">
            <a:solidFill>
              <a:srgbClr val="8C8C8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91839" y="36301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Recording page: Vani’s transcript</a:t>
            </a:r>
          </a:p>
        </p:txBody>
      </p:sp>
      <p:pic>
        <p:nvPicPr>
          <p:cNvPr id="8" name="Picture 7" descr="she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2011680"/>
            <a:ext cx="2606040" cy="1628775"/>
          </a:xfrm>
          <a:prstGeom prst="rect">
            <a:avLst/>
          </a:prstGeom>
          <a:ln w="9525">
            <a:solidFill>
              <a:srgbClr val="8C8C8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80759" y="36301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Dialect shelf: 74 dialects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7589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•"/>
            </a:pPr>
            <a:r>
              <a:rPr lang="en-US" sz="1400" dirty="0" b="1">
                <a:solidFill>
                  <a:srgbClr val="595959"/>
                </a:solidFill>
              </a:rPr>
              <a:t>Deployed live: </a:t>
            </a:r>
            <a:r>
              <a:rPr lang="en-US" sz="1400" dirty="0">
                <a:solidFill>
                  <a:srgbClr val="595959"/>
                </a:solidFill>
              </a:rPr>
              <a:t>swara-veda.vercel.app with a FastAPI server on Render and a Supabase database</a:t>
            </a:r>
          </a:p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•"/>
            </a:pPr>
            <a:r>
              <a:rPr lang="en-US" sz="1400" dirty="0" b="1">
                <a:solidFill>
                  <a:srgbClr val="595959"/>
                </a:solidFill>
              </a:rPr>
              <a:t>74 dialects </a:t>
            </a:r>
            <a:r>
              <a:rPr lang="en-US" sz="1400" dirty="0">
                <a:solidFill>
                  <a:srgbClr val="595959"/>
                </a:solidFill>
              </a:rPr>
              <a:t>catalogued with region, script, ISO code and Vani’s language hint</a:t>
            </a:r>
          </a:p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•"/>
            </a:pPr>
            <a:r>
              <a:rPr lang="en-US" sz="1400" dirty="0" b="1">
                <a:solidFill>
                  <a:srgbClr val="595959"/>
                </a:solidFill>
              </a:rPr>
              <a:t>100+ automated tests </a:t>
            </a:r>
            <a:r>
              <a:rPr lang="en-US" sz="1400" dirty="0">
                <a:solidFill>
                  <a:srgbClr val="595959"/>
                </a:solidFill>
              </a:rPr>
              <a:t>pass, plus tests on real PostgreSQL; end-to-end browser tests show no errors</a:t>
            </a:r>
          </a:p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•"/>
            </a:pPr>
            <a:r>
              <a:rPr lang="en-US" sz="1400" dirty="0" b="1">
                <a:solidFill>
                  <a:srgbClr val="595959"/>
                </a:solidFill>
              </a:rPr>
              <a:t>Pre-processing: </a:t>
            </a:r>
            <a:r>
              <a:rPr lang="en-US" sz="1400" dirty="0">
                <a:solidFill>
                  <a:srgbClr val="595959"/>
                </a:solidFill>
              </a:rPr>
              <a:t>a 2 MB stereo WAV becomes 24 KB before it is sent to Whisper</a:t>
            </a:r>
          </a:p>
          <a:p>
            <a:pPr marL="457200" indent="-342900">
              <a:lnSpc>
                <a:spcPct val="90000"/>
              </a:lnSpc>
              <a:spcBef>
                <a:spcPts val="500"/>
              </a:spcBef>
              <a:buSzPts val="1800"/>
              <a:buFont typeface="Arial"/>
              <a:buChar char="•"/>
            </a:pPr>
            <a:r>
              <a:rPr lang="en-US" sz="1400" dirty="0" b="1">
                <a:solidFill>
                  <a:srgbClr val="595959"/>
                </a:solidFill>
              </a:rPr>
              <a:t>Works offline: </a:t>
            </a:r>
            <a:r>
              <a:rPr lang="en-US" sz="1400" dirty="0">
                <a:solidFill>
                  <a:srgbClr val="595959"/>
                </a:solidFill>
              </a:rPr>
              <a:t>recordings are saved on the device and upload by themselves later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2011680"/>
            <a:ext cx="758952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SwaraVeda turns oral recordings of endangered dialects into verified, searchable text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Vani does the first draft; native speakers keep authority over every word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Audio pre-processing and per-dialect language hints make a general speech model usable for low-resource dialects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Consent is explicit and enforced: private recordings stay private and only consented data is exported</a:t>
            </a:r>
          </a:p>
          <a:p>
            <a:pPr marL="457200" indent="-342900">
              <a:lnSpc>
                <a:spcPct val="90000"/>
              </a:lnSpc>
              <a:spcBef>
                <a:spcPts val="1200"/>
              </a:spcBef>
              <a:buSzPts val="1800"/>
              <a:buFont typeface="Arial"/>
              <a:buChar char="•"/>
            </a:pPr>
            <a:r>
              <a:rPr lang="en-US" sz="1700" dirty="0">
                <a:solidFill>
                  <a:srgbClr val="595959"/>
                </a:solidFill>
              </a:rPr>
              <a:t>The verified dataset is the foundation for training Vani to understand these dialects directly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to be completed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2011680"/>
            <a:ext cx="758952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dirty="0" b="1">
                <a:solidFill>
                  <a:srgbClr val="595959"/>
                </a:solidFill>
              </a:rPr>
              <a:t>Field data: </a:t>
            </a:r>
            <a:r>
              <a:rPr lang="en-US" sz="1600" dirty="0">
                <a:solidFill>
                  <a:srgbClr val="595959"/>
                </a:solidFill>
              </a:rPr>
              <a:t>record with Tulu and Kodava speakers; correct and verify the transcripts</a:t>
            </a:r>
          </a:p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dirty="0" b="1">
                <a:solidFill>
                  <a:srgbClr val="595959"/>
                </a:solidFill>
              </a:rPr>
              <a:t>Storage setup: </a:t>
            </a:r>
            <a:r>
              <a:rPr lang="en-US" sz="1600" dirty="0">
                <a:solidFill>
                  <a:srgbClr val="595959"/>
                </a:solidFill>
              </a:rPr>
              <a:t>finish the cloud storage configuration so uploads work on the live server</a:t>
            </a:r>
          </a:p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dirty="0" b="1">
                <a:solidFill>
                  <a:srgbClr val="595959"/>
                </a:solidFill>
              </a:rPr>
              <a:t>Dataset dashboard: </a:t>
            </a:r>
            <a:r>
              <a:rPr lang="en-US" sz="1600" dirty="0">
                <a:solidFill>
                  <a:srgbClr val="595959"/>
                </a:solidFill>
              </a:rPr>
              <a:t>show how many verified hours Vani has for each dialect</a:t>
            </a:r>
          </a:p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dirty="0" b="1">
                <a:solidFill>
                  <a:srgbClr val="595959"/>
                </a:solidFill>
              </a:rPr>
              <a:t>Speakers: </a:t>
            </a:r>
            <a:r>
              <a:rPr lang="en-US" sz="1600" dirty="0">
                <a:solidFill>
                  <a:srgbClr val="595959"/>
                </a:solidFill>
              </a:rPr>
              <a:t>tell speakers apart in a recording (diarization)</a:t>
            </a:r>
          </a:p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dirty="0" b="1">
                <a:solidFill>
                  <a:srgbClr val="595959"/>
                </a:solidFill>
              </a:rPr>
              <a:t>Accessibility: </a:t>
            </a:r>
            <a:r>
              <a:rPr lang="en-US" sz="1600" dirty="0">
                <a:solidFill>
                  <a:srgbClr val="595959"/>
                </a:solidFill>
              </a:rPr>
              <a:t>interface in Kannada, Hindi and other Indian languages</a:t>
            </a:r>
          </a:p>
          <a:p>
            <a:pPr marL="457200" indent="-342900">
              <a:lnSpc>
                <a:spcPct val="90000"/>
              </a:lnSpc>
              <a:spcBef>
                <a:spcPts val="1100"/>
              </a:spcBef>
              <a:buSzPts val="1800"/>
              <a:buFont typeface="Arial"/>
              <a:buChar char="•"/>
            </a:pPr>
            <a:r>
              <a:rPr lang="en-US" sz="1600" dirty="0" b="1">
                <a:solidFill>
                  <a:srgbClr val="595959"/>
                </a:solidFill>
              </a:rPr>
              <a:t>Train Vani: </a:t>
            </a:r>
            <a:r>
              <a:rPr lang="en-US" sz="1600" dirty="0">
                <a:solidFill>
                  <a:srgbClr val="595959"/>
                </a:solidFill>
              </a:rPr>
              <a:t>fine-tune Whisper on the exported dataset and measure word error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g78e6671419f8a2a0_22">
            <a:extLst>
              <a:ext uri="{FF2B5EF4-FFF2-40B4-BE49-F238E27FC236}">
                <a16:creationId xmlns:a16="http://schemas.microsoft.com/office/drawing/2014/main" id="{BA677A83-D006-E1F4-CCF8-948027C21AB2}"/>
              </a:ext>
            </a:extLst>
          </p:cNvPr>
          <p:cNvSpPr txBox="1"/>
          <p:nvPr/>
        </p:nvSpPr>
        <p:spPr>
          <a:xfrm>
            <a:off x="628650" y="113109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 defTabSz="685800">
              <a:lnSpc>
                <a:spcPct val="9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69;g78e6671419f8a2a0_22">
            <a:extLst>
              <a:ext uri="{FF2B5EF4-FFF2-40B4-BE49-F238E27FC236}">
                <a16:creationId xmlns:a16="http://schemas.microsoft.com/office/drawing/2014/main" id="{13186C97-59A2-67F5-3892-203B43C861C9}"/>
              </a:ext>
            </a:extLst>
          </p:cNvPr>
          <p:cNvSpPr txBox="1"/>
          <p:nvPr/>
        </p:nvSpPr>
        <p:spPr>
          <a:xfrm>
            <a:off x="822960" y="2011680"/>
            <a:ext cx="758952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UNESCO, Atlas of the World’s Languages in Danger, 3rd ed., Paris: UNESCO Publishing, 2010.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A. Radford, J. W. Kim, T. Xu, G. Brockman, C. McLeavey and I. Sutskever, “Robust Speech Recognition via Large-Scale Weak Supervision,” Proc. ICML, 2023.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N. Reimers and I. Gurevych, “Sentence-BERT: Sentence Embeddings using Siamese BERT-Networks,” Proc. EMNLP-IJCNLP, 2019.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N. Reimers and I. Gurevych, “Making Monolingual Sentence Embeddings Multilingual using Knowledge Distillation,” Proc. EMNLP, 2020.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H. Bredin et al., “pyannote.audio: Neural Building Blocks for Speaker Diarization,” Proc. ICASSP, 2020.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pgvector: open-source vector similarity search for PostgreSQL, github.com/pgvector/pgvector.</a:t>
            </a:r>
          </a:p>
          <a:p>
            <a:pPr marL="457200" indent="-342900">
              <a:lnSpc>
                <a:spcPct val="90000"/>
              </a:lnSpc>
              <a:spcBef>
                <a:spcPts val="700"/>
              </a:spcBef>
              <a:buFont typeface="+mj-lt"/>
              <a:buAutoNum type="arabicPeriod"/>
            </a:pPr>
            <a:r>
              <a:rPr lang="en-US" sz="1300" dirty="0">
                <a:solidFill>
                  <a:srgbClr val="595959"/>
                </a:solidFill>
              </a:rPr>
              <a:t>SIL International, ISO 639-3 code tables, iso639-3.sil.org.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59236BD8-2EB6-C6B1-A74F-9CF531C8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5;p11">
            <a:extLst>
              <a:ext uri="{FF2B5EF4-FFF2-40B4-BE49-F238E27FC236}">
                <a16:creationId xmlns:a16="http://schemas.microsoft.com/office/drawing/2014/main" id="{80E82BBC-903E-03E5-F615-ED94D1174626}"/>
              </a:ext>
            </a:extLst>
          </p:cNvPr>
          <p:cNvSpPr txBox="1"/>
          <p:nvPr/>
        </p:nvSpPr>
        <p:spPr>
          <a:xfrm>
            <a:off x="1610325" y="2832109"/>
            <a:ext cx="5829300" cy="87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  <a:buSzPts val="5200"/>
            </a:pPr>
            <a:r>
              <a:rPr lang="en-GB" sz="39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650" b="1" dirty="0"/>
          </a:p>
        </p:txBody>
      </p:sp>
    </p:spTree>
    <p:extLst>
      <p:ext uri="{BB962C8B-B14F-4D97-AF65-F5344CB8AC3E}">
        <p14:creationId xmlns:p14="http://schemas.microsoft.com/office/powerpoint/2010/main" val="3488515421"/>
      </p:ext>
    </p:extLst>
  </p:cSld>
  <p:clrMapOvr>
    <a:masterClrMapping/>
  </p:clrMapOvr>
</p:sld>
</file>

<file path=ppt/theme/theme1.xml><?xml version="1.0" encoding="utf-8"?>
<a:theme xmlns:a="http://schemas.openxmlformats.org/drawingml/2006/main" name="2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Theme1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</TotalTime>
  <Words>96</Words>
  <Application>Microsoft Office PowerPoint</Application>
  <PresentationFormat>On-screen Show (4:3)</PresentationFormat>
  <Paragraphs>27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Times New Roman</vt:lpstr>
      <vt:lpstr>Arial</vt:lpstr>
      <vt:lpstr>Verdana</vt:lpstr>
      <vt:lpstr>2_Simple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srividhya v r</cp:lastModifiedBy>
  <cp:revision>25</cp:revision>
  <cp:lastPrinted>2024-09-27T04:20:50Z</cp:lastPrinted>
  <dcterms:created xsi:type="dcterms:W3CDTF">2023-10-20T09:46:10Z</dcterms:created>
  <dcterms:modified xsi:type="dcterms:W3CDTF">2026-10-21T04:22:26Z</dcterms:modified>
</cp:coreProperties>
</file>