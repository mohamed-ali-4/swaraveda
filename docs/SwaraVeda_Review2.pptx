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6" r:id="rId1"/>
  </p:sldMasterIdLst>
  <p:notesMasterIdLst>
    <p:notesMasterId r:id="rId5"/>
  </p:notesMasterIdLst>
  <p:sldIdLst>
    <p:sldId id="279" r:id="rId2"/>
    <p:sldId id="281" r:id="rId3"/>
    <p:sldId id="283" r:id="rId168"/>
    <p:sldId id="284" r:id="rId169"/>
    <p:sldId id="285" r:id="rId170"/>
    <p:sldId id="286" r:id="rId171"/>
    <p:sldId id="287" r:id="rId172"/>
    <p:sldId id="288" r:id="rId173"/>
    <p:sldId id="289" r:id="rId174"/>
    <p:sldId id="290" r:id="rId175"/>
    <p:sldId id="291" r:id="rId176"/>
    <p:sldId id="292" r:id="rId177"/>
    <p:sldId id="293" r:id="rId178"/>
    <p:sldId id="294" r:id="rId179"/>
    <p:sldId id="295" r:id="rId180"/>
    <p:sldId id="296" r:id="rId181"/>
    <p:sldId id="282" r:id="rId4"/>
  </p:sldIdLst>
  <p:sldSz cx="9144000" cy="6858000" type="screen4x3"/>
  <p:notesSz cx="7010400" cy="9296400"/>
  <p:embeddedFontLst>
    <p:embeddedFont>
      <p:font typeface="Verdana" panose="020B0604030504040204" pitchFamily="34" charset="0"/>
      <p:regular r:id="rId6"/>
      <p:bold r:id="rId7"/>
      <p:italic r:id="rId8"/>
      <p:boldItalic r:id="rId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63" roundtripDataSignature="AMtx7mgtpVR0efpXsYw/YFNiXHcO2TZrf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2CB93E1-9EAC-49F2-A970-9903F78E92AF}">
  <a:tblStyle styleId="{C2CB93E1-9EAC-49F2-A970-9903F78E92A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159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font" Target="fonts/font3.fntdata"/><Relationship Id="rId163" Type="http://customschemas.google.com/relationships/presentationmetadata" Target="metadata"/><Relationship Id="rId3" Type="http://schemas.openxmlformats.org/officeDocument/2006/relationships/slide" Target="slides/slide2.xml"/><Relationship Id="rId167" Type="http://schemas.openxmlformats.org/officeDocument/2006/relationships/tableStyles" Target="tableStyles.xml"/><Relationship Id="rId7" Type="http://schemas.openxmlformats.org/officeDocument/2006/relationships/font" Target="fonts/font2.fntdata"/><Relationship Id="rId2" Type="http://schemas.openxmlformats.org/officeDocument/2006/relationships/slide" Target="slides/slide1.xml"/><Relationship Id="rId16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5" Type="http://schemas.openxmlformats.org/officeDocument/2006/relationships/notesMaster" Target="notesMasters/notesMaster1.xml"/><Relationship Id="rId165" Type="http://schemas.openxmlformats.org/officeDocument/2006/relationships/viewProps" Target="viewProps.xml"/><Relationship Id="rId16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4.fntdata"/>  <Relationship Id="rId168" Type="http://schemas.openxmlformats.org/officeDocument/2006/relationships/slide" Target="slides/slide4.xml"/>
  <Relationship Id="rId169" Type="http://schemas.openxmlformats.org/officeDocument/2006/relationships/slide" Target="slides/slide5.xml"/>
  <Relationship Id="rId170" Type="http://schemas.openxmlformats.org/officeDocument/2006/relationships/slide" Target="slides/slide6.xml"/>
  <Relationship Id="rId171" Type="http://schemas.openxmlformats.org/officeDocument/2006/relationships/slide" Target="slides/slide7.xml"/>
  <Relationship Id="rId172" Type="http://schemas.openxmlformats.org/officeDocument/2006/relationships/slide" Target="slides/slide8.xml"/>
  <Relationship Id="rId173" Type="http://schemas.openxmlformats.org/officeDocument/2006/relationships/slide" Target="slides/slide9.xml"/>
  <Relationship Id="rId174" Type="http://schemas.openxmlformats.org/officeDocument/2006/relationships/slide" Target="slides/slide10.xml"/>
  <Relationship Id="rId175" Type="http://schemas.openxmlformats.org/officeDocument/2006/relationships/slide" Target="slides/slide11.xml"/>
  <Relationship Id="rId176" Type="http://schemas.openxmlformats.org/officeDocument/2006/relationships/slide" Target="slides/slide12.xml"/>
  <Relationship Id="rId177" Type="http://schemas.openxmlformats.org/officeDocument/2006/relationships/slide" Target="slides/slide13.xml"/>
  <Relationship Id="rId178" Type="http://schemas.openxmlformats.org/officeDocument/2006/relationships/slide" Target="slides/slide14.xml"/>
  <Relationship Id="rId179" Type="http://schemas.openxmlformats.org/officeDocument/2006/relationships/slide" Target="slides/slide15.xml"/>
  <Relationship Id="rId180" Type="http://schemas.openxmlformats.org/officeDocument/2006/relationships/slide" Target="slides/slide16.xml"/>
  <Relationship Id="rId181" Type="http://schemas.openxmlformats.org/officeDocument/2006/relationships/slide" Target="slides/slide17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1"/>
            <a:ext cx="3049199" cy="4728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181" tIns="47078" rIns="94181" bIns="47078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983919" y="1"/>
            <a:ext cx="3049199" cy="4728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181" tIns="47078" rIns="94181" bIns="47078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155700" y="708025"/>
            <a:ext cx="4725988" cy="35448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4286" y="4490032"/>
            <a:ext cx="5627793" cy="4252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181" tIns="47078" rIns="94181" bIns="47078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976837"/>
            <a:ext cx="3049199" cy="4728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181" tIns="47078" rIns="94181" bIns="47078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983919" y="8976837"/>
            <a:ext cx="3049199" cy="4728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181" tIns="47078" rIns="94181" bIns="47078" anchor="b" anchorCtr="0">
            <a:noAutofit/>
          </a:bodyPr>
          <a:lstStyle/>
          <a:p>
            <a:pPr algn="r">
              <a:buSzPts val="1200"/>
            </a:pPr>
            <a:fld id="{00000000-1234-1234-1234-123412341234}" type="slidenum">
              <a:rPr lang="en-US" sz="1200" smtClean="0">
                <a:latin typeface="Times New Roman"/>
                <a:ea typeface="Times New Roman"/>
                <a:cs typeface="Times New Roman"/>
                <a:sym typeface="Times New Roman"/>
              </a:rPr>
              <a:pPr algn="r">
                <a:buSzPts val="1200"/>
              </a:pPr>
              <a:t>‹#›</a:t>
            </a:fld>
            <a:endParaRPr lang="en-US" sz="1800">
              <a:solidFill>
                <a:schemeClr val="dk1"/>
              </a:solidFill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23d66680d4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" name="Google Shape;56;g23d66680d4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>
          <a:extLst>
            <a:ext uri="{FF2B5EF4-FFF2-40B4-BE49-F238E27FC236}">
              <a16:creationId xmlns:a16="http://schemas.microsoft.com/office/drawing/2014/main" id="{B57AB778-DB4D-F3BB-51B4-E2FAB23F3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23d66680d41_0_0:notes">
            <a:extLst>
              <a:ext uri="{FF2B5EF4-FFF2-40B4-BE49-F238E27FC236}">
                <a16:creationId xmlns:a16="http://schemas.microsoft.com/office/drawing/2014/main" id="{B982CE94-6BC2-B3FD-FB7A-A530322D85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" name="Google Shape;56;g23d66680d41_0_0:notes">
            <a:extLst>
              <a:ext uri="{FF2B5EF4-FFF2-40B4-BE49-F238E27FC236}">
                <a16:creationId xmlns:a16="http://schemas.microsoft.com/office/drawing/2014/main" id="{EF36C0A9-EB14-4321-7C0F-93629295E9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59671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391725" y="1245467"/>
            <a:ext cx="8520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body" idx="1"/>
          </p:nvPr>
        </p:nvSpPr>
        <p:spPr>
          <a:xfrm>
            <a:off x="253250" y="2476667"/>
            <a:ext cx="85206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189" lvl="0" indent="-342892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378" lvl="1" indent="-317492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566" lvl="2" indent="-31749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754" lvl="3" indent="-317492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5943" lvl="4" indent="-317492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132" lvl="5" indent="-31749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320" lvl="6" indent="-317492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509" lvl="7" indent="-317492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697" lvl="8" indent="-31749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6217623"/>
            <a:ext cx="5487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9" name="Google Shape;19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984001" y="552002"/>
            <a:ext cx="1974051" cy="40023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286182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311708" y="992767"/>
            <a:ext cx="8520600" cy="273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311700" y="3778833"/>
            <a:ext cx="8520600" cy="105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ldNum" idx="12"/>
          </p:nvPr>
        </p:nvSpPr>
        <p:spPr>
          <a:xfrm>
            <a:off x="8472458" y="6217623"/>
            <a:ext cx="5487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4" name="Google Shape;14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463214" y="6306736"/>
            <a:ext cx="2217574" cy="4496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14284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4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91725" y="1035333"/>
            <a:ext cx="85206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2009067"/>
            <a:ext cx="85206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6217623"/>
            <a:ext cx="5487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9" name="Google Shape;9;p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16001" y="288000"/>
            <a:ext cx="2255043" cy="864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58314559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8" r:id="rId1"/>
    <p:sldLayoutId id="214748368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SV1" Type="http://schemas.openxmlformats.org/officeDocument/2006/relationships/image" Target="../media/sv-07-recording-playing-c.png"/><Relationship Id="rIdSV2" Type="http://schemas.openxmlformats.org/officeDocument/2006/relationships/image" Target="../media/sv-08-editor-c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SV1" Type="http://schemas.openxmlformats.org/officeDocument/2006/relationships/image" Target="../media/sv-06-wizard-consent-c.png"/><Relationship Id="rIdSV2" Type="http://schemas.openxmlformats.org/officeDocument/2006/relationships/image" Target="../media/sv-11-search-meaning-c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58;p1">
            <a:extLst>
              <a:ext uri="{FF2B5EF4-FFF2-40B4-BE49-F238E27FC236}">
                <a16:creationId xmlns:a16="http://schemas.microsoft.com/office/drawing/2014/main" id="{DFD4F891-E7F7-9351-879B-C1AEE0DAC8A0}"/>
              </a:ext>
            </a:extLst>
          </p:cNvPr>
          <p:cNvSpPr txBox="1"/>
          <p:nvPr/>
        </p:nvSpPr>
        <p:spPr>
          <a:xfrm>
            <a:off x="1827162" y="1091100"/>
            <a:ext cx="6411639" cy="653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algn="ctr">
              <a:buSzPts val="2000"/>
            </a:pPr>
            <a:r>
              <a:rPr lang="en-GB" sz="2000" b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Department of Computer Science and Engineering</a:t>
            </a:r>
            <a:endParaRPr b="1" dirty="0">
              <a:solidFill>
                <a:schemeClr val="dk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buSzPts val="1600"/>
            </a:pPr>
            <a:r>
              <a:rPr lang="en-GB" sz="1800" b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JP Nagar, </a:t>
            </a:r>
            <a:r>
              <a:rPr lang="en-GB" sz="1800" b="1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Kothanur</a:t>
            </a:r>
            <a:r>
              <a:rPr lang="en-GB" sz="1800" b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, Bengaluru - 560076</a:t>
            </a:r>
            <a:endParaRPr sz="1800" b="1" dirty="0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sp>
        <p:nvSpPr>
          <p:cNvPr id="5" name="Google Shape;59;p1">
            <a:extLst>
              <a:ext uri="{FF2B5EF4-FFF2-40B4-BE49-F238E27FC236}">
                <a16:creationId xmlns:a16="http://schemas.microsoft.com/office/drawing/2014/main" id="{99B6F956-E69F-C22A-B6BC-EE537FF41AEC}"/>
              </a:ext>
            </a:extLst>
          </p:cNvPr>
          <p:cNvSpPr txBox="1"/>
          <p:nvPr/>
        </p:nvSpPr>
        <p:spPr>
          <a:xfrm>
            <a:off x="2013975" y="2884163"/>
            <a:ext cx="5441625" cy="1089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68569" rIns="68569" bIns="68569" anchor="t" anchorCtr="0">
            <a:spAutoFit/>
          </a:bodyPr>
          <a:lstStyle/>
          <a:p>
            <a:pPr algn="ctr"/>
            <a:r>
              <a:rPr lang="en-GB" sz="240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sz="21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Academic year 2025 – 2026 Odd (5th) semester</a:t>
            </a:r>
            <a:r>
              <a:rPr lang="en-GB" sz="24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endParaRPr sz="2400" dirty="0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algn="ctr">
              <a:lnSpc>
                <a:spcPct val="90000"/>
              </a:lnSpc>
            </a:pPr>
            <a:r>
              <a:rPr lang="en-GB" sz="24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Mini Project (BCS586) </a:t>
            </a:r>
            <a:endParaRPr sz="1050" dirty="0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algn="ctr">
              <a:lnSpc>
                <a:spcPct val="90000"/>
              </a:lnSpc>
            </a:pPr>
            <a:r>
              <a:rPr lang="en-GB" sz="18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Review 2 Presentation</a:t>
            </a:r>
            <a:endParaRPr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Google Shape;60;p1">
            <a:extLst>
              <a:ext uri="{FF2B5EF4-FFF2-40B4-BE49-F238E27FC236}">
                <a16:creationId xmlns:a16="http://schemas.microsoft.com/office/drawing/2014/main" id="{4BA3482C-A508-B52E-EEB8-285559015CBA}"/>
              </a:ext>
            </a:extLst>
          </p:cNvPr>
          <p:cNvSpPr txBox="1"/>
          <p:nvPr/>
        </p:nvSpPr>
        <p:spPr>
          <a:xfrm>
            <a:off x="573525" y="2218725"/>
            <a:ext cx="7996950" cy="1210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noAutofit/>
          </a:bodyPr>
          <a:lstStyle/>
          <a:p>
            <a:pPr algn="ctr">
              <a:lnSpc>
                <a:spcPct val="90000"/>
              </a:lnSpc>
              <a:buSzPts val="3200"/>
            </a:pPr>
            <a:r>
              <a:rPr lang="en-GB" sz="2400" b="1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SwaraVeda: An AI-Assisted Community Archive for Endangered Indian Dialects</a:t>
            </a:r>
            <a:endParaRPr sz="105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Google Shape;61;p1">
            <a:extLst>
              <a:ext uri="{FF2B5EF4-FFF2-40B4-BE49-F238E27FC236}">
                <a16:creationId xmlns:a16="http://schemas.microsoft.com/office/drawing/2014/main" id="{8601123A-037C-7F88-38B6-72381C8451D3}"/>
              </a:ext>
            </a:extLst>
          </p:cNvPr>
          <p:cNvSpPr/>
          <p:nvPr/>
        </p:nvSpPr>
        <p:spPr>
          <a:xfrm>
            <a:off x="1483144" y="4556625"/>
            <a:ext cx="3268800" cy="100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noAutofit/>
          </a:bodyPr>
          <a:lstStyle/>
          <a:p>
            <a:pPr>
              <a:lnSpc>
                <a:spcPct val="90000"/>
              </a:lnSpc>
            </a:pPr>
            <a:r>
              <a:rPr lang="en-GB" sz="1350" b="1" i="1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Presented by:</a:t>
            </a:r>
            <a:r>
              <a:rPr lang="en-GB" sz="1350" b="1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endParaRPr sz="1350" b="1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algn="ctr">
              <a:lnSpc>
                <a:spcPct val="90000"/>
              </a:lnSpc>
            </a:pPr>
            <a:r>
              <a:rPr lang="en-GB" sz="135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Name- USN</a:t>
            </a:r>
            <a:endParaRPr sz="1350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algn="ctr">
              <a:lnSpc>
                <a:spcPct val="90000"/>
              </a:lnSpc>
            </a:pPr>
            <a:r>
              <a:rPr lang="en-GB" sz="135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Name - USN</a:t>
            </a:r>
            <a:endParaRPr sz="1350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algn="ctr">
              <a:lnSpc>
                <a:spcPct val="90000"/>
              </a:lnSpc>
            </a:pPr>
            <a:r>
              <a:rPr lang="en-GB" sz="135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Name - USN</a:t>
            </a:r>
            <a:endParaRPr sz="1350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algn="ctr">
              <a:lnSpc>
                <a:spcPct val="90000"/>
              </a:lnSpc>
            </a:pPr>
            <a:r>
              <a:rPr lang="en-GB" sz="135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Name - USN</a:t>
            </a:r>
            <a:endParaRPr sz="1350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sp>
        <p:nvSpPr>
          <p:cNvPr id="11" name="Google Shape;62;p1">
            <a:extLst>
              <a:ext uri="{FF2B5EF4-FFF2-40B4-BE49-F238E27FC236}">
                <a16:creationId xmlns:a16="http://schemas.microsoft.com/office/drawing/2014/main" id="{08AB2A1C-C731-5E57-315E-E8A8ED4072E4}"/>
              </a:ext>
            </a:extLst>
          </p:cNvPr>
          <p:cNvSpPr txBox="1"/>
          <p:nvPr/>
        </p:nvSpPr>
        <p:spPr>
          <a:xfrm>
            <a:off x="5141813" y="4588800"/>
            <a:ext cx="2428425" cy="945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GB" sz="1350" i="1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Under the Guidance of:</a:t>
            </a:r>
            <a:endParaRPr sz="1350" i="1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algn="ctr">
              <a:lnSpc>
                <a:spcPct val="90000"/>
              </a:lnSpc>
            </a:pPr>
            <a:r>
              <a:rPr lang="en-GB" sz="135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Name</a:t>
            </a:r>
            <a:endParaRPr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90000"/>
              </a:lnSpc>
            </a:pPr>
            <a:r>
              <a:rPr lang="en-GB" sz="135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Designation</a:t>
            </a:r>
            <a:br>
              <a:rPr lang="en-GB" sz="135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en-GB" sz="135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Dept. of CS&amp;E</a:t>
            </a:r>
            <a:endParaRPr sz="1350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algn="ctr">
              <a:lnSpc>
                <a:spcPct val="90000"/>
              </a:lnSpc>
            </a:pPr>
            <a:r>
              <a:rPr lang="en-GB" sz="135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RVITM</a:t>
            </a:r>
            <a:endParaRPr sz="1350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68;g78e6671419f8a2a0_22">
            <a:extLst>
              <a:ext uri="{FF2B5EF4-FFF2-40B4-BE49-F238E27FC236}">
                <a16:creationId xmlns:a16="http://schemas.microsoft.com/office/drawing/2014/main" id="{BA677A83-D006-E1F4-CCF8-948027C21AB2}"/>
              </a:ext>
            </a:extLst>
          </p:cNvPr>
          <p:cNvSpPr txBox="1"/>
          <p:nvPr/>
        </p:nvSpPr>
        <p:spPr>
          <a:xfrm>
            <a:off x="628650" y="1131097"/>
            <a:ext cx="7886700" cy="994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ctr" anchorCtr="0">
            <a:normAutofit/>
          </a:bodyPr>
          <a:lstStyle/>
          <a:p>
            <a:pPr algn="ctr" defTabSz="685800">
              <a:lnSpc>
                <a:spcPct val="90000"/>
              </a:lnSpc>
            </a:pP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Contents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69;g78e6671419f8a2a0_22">
            <a:extLst>
              <a:ext uri="{FF2B5EF4-FFF2-40B4-BE49-F238E27FC236}">
                <a16:creationId xmlns:a16="http://schemas.microsoft.com/office/drawing/2014/main" id="{13186C97-59A2-67F5-3892-203B43C861C9}"/>
              </a:ext>
            </a:extLst>
          </p:cNvPr>
          <p:cNvSpPr txBox="1"/>
          <p:nvPr/>
        </p:nvSpPr>
        <p:spPr>
          <a:xfrm>
            <a:off x="1593386" y="1909946"/>
            <a:ext cx="7137659" cy="3695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normAutofit fontScale="92500" lnSpcReduction="10000"/>
          </a:bodyPr>
          <a:lstStyle/>
          <a:p>
            <a:pPr marL="3086100" lvl="8" indent="-257175" defTabSz="685800">
              <a:lnSpc>
                <a:spcPct val="90000"/>
              </a:lnSpc>
              <a:spcBef>
                <a:spcPts val="375"/>
              </a:spcBef>
            </a:pPr>
            <a:r>
              <a:rPr lang="en-GB" sz="1200" b="1" dirty="0">
                <a:solidFill>
                  <a:srgbClr val="59595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</a:t>
            </a:r>
            <a:endParaRPr sz="1200" dirty="0">
              <a:solidFill>
                <a:srgbClr val="59595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342900">
              <a:lnSpc>
                <a:spcPct val="90000"/>
              </a:lnSpc>
              <a:spcBef>
                <a:spcPts val="1000"/>
              </a:spcBef>
              <a:buSzPts val="1800"/>
              <a:buFont typeface="Arial"/>
              <a:buChar char="•"/>
            </a:pPr>
            <a:r>
              <a:rPr lang="en-US" sz="2000" dirty="0">
                <a:solidFill>
                  <a:srgbClr val="595959"/>
                </a:solidFill>
              </a:rPr>
              <a:t>Abstract</a:t>
            </a:r>
            <a:endParaRPr lang="en-IN" sz="2000" dirty="0">
              <a:solidFill>
                <a:srgbClr val="595959"/>
              </a:solidFill>
            </a:endParaRPr>
          </a:p>
          <a:p>
            <a:pPr marL="457200" indent="-342900">
              <a:lnSpc>
                <a:spcPct val="90000"/>
              </a:lnSpc>
              <a:spcBef>
                <a:spcPts val="1000"/>
              </a:spcBef>
              <a:buSzPts val="1800"/>
              <a:buFont typeface="Arial"/>
              <a:buChar char="•"/>
            </a:pPr>
            <a:r>
              <a:rPr lang="en-US" sz="2000" dirty="0">
                <a:solidFill>
                  <a:srgbClr val="595959"/>
                </a:solidFill>
              </a:rPr>
              <a:t>Introduction</a:t>
            </a:r>
            <a:endParaRPr lang="en-IN" sz="2000" dirty="0">
              <a:solidFill>
                <a:srgbClr val="595959"/>
              </a:solidFill>
            </a:endParaRPr>
          </a:p>
          <a:p>
            <a:pPr marL="457200" indent="-342900">
              <a:lnSpc>
                <a:spcPct val="90000"/>
              </a:lnSpc>
              <a:spcBef>
                <a:spcPts val="1000"/>
              </a:spcBef>
              <a:buSzPts val="1800"/>
              <a:buFont typeface="Arial"/>
              <a:buChar char="•"/>
            </a:pPr>
            <a:r>
              <a:rPr lang="en-US" sz="2000" dirty="0">
                <a:solidFill>
                  <a:srgbClr val="595959"/>
                </a:solidFill>
              </a:rPr>
              <a:t>Objectives and Problem Statement</a:t>
            </a:r>
            <a:endParaRPr lang="en-IN" sz="2000" dirty="0">
              <a:solidFill>
                <a:srgbClr val="595959"/>
              </a:solidFill>
            </a:endParaRPr>
          </a:p>
          <a:p>
            <a:pPr marL="457200" indent="-342900">
              <a:lnSpc>
                <a:spcPct val="90000"/>
              </a:lnSpc>
              <a:spcBef>
                <a:spcPts val="1000"/>
              </a:spcBef>
              <a:buSzPts val="1800"/>
              <a:buFont typeface="Arial"/>
              <a:buChar char="•"/>
            </a:pPr>
            <a:r>
              <a:rPr lang="en-US" sz="2000" dirty="0">
                <a:solidFill>
                  <a:srgbClr val="595959"/>
                </a:solidFill>
              </a:rPr>
              <a:t>Proposed Model  - Methodology ( Architecture diagram)</a:t>
            </a:r>
          </a:p>
          <a:p>
            <a:pPr marL="457200" indent="-342900">
              <a:lnSpc>
                <a:spcPct val="90000"/>
              </a:lnSpc>
              <a:spcBef>
                <a:spcPts val="1000"/>
              </a:spcBef>
              <a:buSzPts val="1800"/>
              <a:buFont typeface="Arial"/>
              <a:buChar char="•"/>
            </a:pPr>
            <a:r>
              <a:rPr lang="en-US" sz="2000" dirty="0">
                <a:solidFill>
                  <a:srgbClr val="595959"/>
                </a:solidFill>
              </a:rPr>
              <a:t>Implementation Details (Algorithm)</a:t>
            </a:r>
          </a:p>
          <a:p>
            <a:pPr marL="457200" indent="-342900">
              <a:lnSpc>
                <a:spcPct val="90000"/>
              </a:lnSpc>
              <a:spcBef>
                <a:spcPts val="1000"/>
              </a:spcBef>
              <a:buSzPts val="1800"/>
              <a:buFont typeface="Arial"/>
              <a:buChar char="•"/>
            </a:pPr>
            <a:r>
              <a:rPr lang="en-US" sz="2000" dirty="0">
                <a:solidFill>
                  <a:srgbClr val="595959"/>
                </a:solidFill>
              </a:rPr>
              <a:t>Results </a:t>
            </a:r>
          </a:p>
          <a:p>
            <a:pPr marL="457200" indent="-342900">
              <a:lnSpc>
                <a:spcPct val="90000"/>
              </a:lnSpc>
              <a:spcBef>
                <a:spcPts val="1000"/>
              </a:spcBef>
              <a:buSzPts val="1800"/>
              <a:buFont typeface="Arial"/>
              <a:buChar char="•"/>
            </a:pPr>
            <a:r>
              <a:rPr lang="en-US" sz="2000" dirty="0">
                <a:solidFill>
                  <a:srgbClr val="595959"/>
                </a:solidFill>
              </a:rPr>
              <a:t>Conclusion</a:t>
            </a:r>
          </a:p>
          <a:p>
            <a:pPr marL="457200" indent="-342900">
              <a:lnSpc>
                <a:spcPct val="90000"/>
              </a:lnSpc>
              <a:spcBef>
                <a:spcPts val="1000"/>
              </a:spcBef>
              <a:buSzPts val="1800"/>
              <a:buFont typeface="Arial"/>
              <a:buChar char="•"/>
            </a:pPr>
            <a:r>
              <a:rPr lang="en-US" sz="2000" dirty="0">
                <a:solidFill>
                  <a:srgbClr val="595959"/>
                </a:solidFill>
              </a:rPr>
              <a:t>Work to be completed</a:t>
            </a:r>
          </a:p>
          <a:p>
            <a:pPr marL="457200" indent="-342900">
              <a:lnSpc>
                <a:spcPct val="90000"/>
              </a:lnSpc>
              <a:spcBef>
                <a:spcPts val="1000"/>
              </a:spcBef>
              <a:buSzPts val="1800"/>
              <a:buFont typeface="Arial"/>
              <a:buChar char="•"/>
            </a:pPr>
            <a:r>
              <a:rPr lang="en-US" sz="2000" dirty="0">
                <a:solidFill>
                  <a:srgbClr val="595959"/>
                </a:solidFill>
              </a:rPr>
              <a:t>References</a:t>
            </a:r>
            <a:endParaRPr sz="1800" b="1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>
          <a:extLst>
            <a:ext uri="{FF2B5EF4-FFF2-40B4-BE49-F238E27FC236}">
              <a16:creationId xmlns:a16="http://schemas.microsoft.com/office/drawing/2014/main" id="{59236BD8-2EB6-C6B1-A74F-9CF531C8E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05;p11">
            <a:extLst>
              <a:ext uri="{FF2B5EF4-FFF2-40B4-BE49-F238E27FC236}">
                <a16:creationId xmlns:a16="http://schemas.microsoft.com/office/drawing/2014/main" id="{80E82BBC-903E-03E5-F615-ED94D1174626}"/>
              </a:ext>
            </a:extLst>
          </p:cNvPr>
          <p:cNvSpPr txBox="1"/>
          <p:nvPr/>
        </p:nvSpPr>
        <p:spPr>
          <a:xfrm>
            <a:off x="1610325" y="2832109"/>
            <a:ext cx="5829300" cy="87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noAutofit/>
          </a:bodyPr>
          <a:lstStyle/>
          <a:p>
            <a:pPr algn="ctr">
              <a:lnSpc>
                <a:spcPct val="90000"/>
              </a:lnSpc>
              <a:buSzPts val="5200"/>
            </a:pPr>
            <a:r>
              <a:rPr lang="en-GB" sz="39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Thank You!</a:t>
            </a:r>
            <a:endParaRPr sz="1650" b="1" dirty="0"/>
          </a:p>
        </p:txBody>
      </p:sp>
    </p:spTree>
    <p:extLst>
      <p:ext uri="{BB962C8B-B14F-4D97-AF65-F5344CB8AC3E}">
        <p14:creationId xmlns:p14="http://schemas.microsoft.com/office/powerpoint/2010/main" val="34885154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1"/>
          <p:cNvSpPr txBox="1"/>
          <p:nvPr/>
        </p:nvSpPr>
        <p:spPr>
          <a:xfrm>
            <a:off x="628650" y="1131097"/>
            <a:ext cx="7886700" cy="760000"/>
          </a:xfrm>
          <a:prstGeom prst="rect">
            <a:avLst/>
          </a:prstGeom>
          <a:noFill/>
          <a:ln>
            <a:noFill/>
          </a:ln>
        </p:spPr>
        <p:txBody>
          <a:bodyPr wrap="square" lIns="68569" tIns="34275" rIns="68569" bIns="34275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85800" y="2011680"/>
            <a:ext cx="7772400" cy="356616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Autofit/>
          </a:bodyPr>
          <a:lstStyle/>
          <a:p>
            <a:pPr marL="0" indent="0" algn="just">
              <a:lnSpc>
                <a:spcPct val="115000"/>
              </a:lnSpc>
              <a:spcBef>
                <a:spcPts val="0"/>
              </a:spcBef>
              <a:buNone/>
            </a:pPr>
            <a:r>
              <a:rPr lang="en-US" sz="1400" dirty="0">
                <a:solidFill>
                  <a:srgbClr val="595959"/>
                </a:solidFill>
              </a:rPr>
              <a:t>India has 197 endangered languages, more than any other country, and most of its dialects exist only as speech. SwaraVeda is a community-driven web archive that records, transcribes and preserves the songs, stories and conversations of endangered Indian dialects.</a:t>
            </a:r>
          </a:p>
          <a:p>
            <a:pPr marL="0" indent="0" algn="just">
              <a:lnSpc>
                <a:spcPct val="115000"/>
              </a:lnSpc>
              <a:spcBef>
                <a:spcPts val="1000"/>
              </a:spcBef>
              <a:buNone/>
            </a:pPr>
            <a:r>
              <a:rPr lang="en-US" sz="1400" dirty="0">
                <a:solidFill>
                  <a:srgbClr val="595959"/>
                </a:solidFill>
              </a:rPr>
              <a:t>Speakers record or upload audio with explicit consent. The system cleans the audio and uses the Whisper large-v3 speech model to draft a timestamped transcript. Native speakers correct it in a listening editor, with AI-suggested English translations, and verifiers approve each passage.</a:t>
            </a:r>
          </a:p>
          <a:p>
            <a:pPr marL="0" indent="0" algn="just">
              <a:lnSpc>
                <a:spcPct val="115000"/>
              </a:lnSpc>
              <a:spcBef>
                <a:spcPts val="1000"/>
              </a:spcBef>
              <a:buNone/>
            </a:pPr>
            <a:r>
              <a:rPr lang="en-US" sz="1400" dirty="0">
                <a:solidFill>
                  <a:srgbClr val="595959"/>
                </a:solidFill>
              </a:rPr>
              <a:t>Corrected transcripts become searchable by keyword and by meaning, and are exported as a consented dataset for training speech recognition in low-resource languages. The system is deployed live and catalogues 74 dialects.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685800" y="5715000"/>
            <a:ext cx="77724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1" dirty="0">
                <a:solidFill>
                  <a:srgbClr val="262626"/>
                </a:solidFill>
              </a:rPr>
              <a:t xml:space="preserve">Keywords: </a:t>
            </a:r>
            <a:r>
              <a:rPr lang="en-US" sz="1200" i="1" dirty="0">
                <a:solidFill>
                  <a:srgbClr val="595959"/>
                </a:solidFill>
              </a:rPr>
              <a:t>endangered languages, speech recognition, Whisper, crowdsourcing, semantic search, language documentation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1"/>
          <p:cNvSpPr txBox="1"/>
          <p:nvPr/>
        </p:nvSpPr>
        <p:spPr>
          <a:xfrm>
            <a:off x="628650" y="1131097"/>
            <a:ext cx="7886700" cy="760000"/>
          </a:xfrm>
          <a:prstGeom prst="rect">
            <a:avLst/>
          </a:prstGeom>
          <a:noFill/>
          <a:ln>
            <a:noFill/>
          </a:ln>
        </p:spPr>
        <p:txBody>
          <a:bodyPr wrap="square" lIns="68569" tIns="34275" rIns="68569" bIns="34275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48640" y="2011680"/>
            <a:ext cx="5120640" cy="420624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Autofit/>
          </a:bodyPr>
          <a:lstStyle/>
          <a:p>
            <a:pPr marL="256032" indent="-228600" algn="l">
              <a:lnSpc>
                <a:spcPct val="105000"/>
              </a:lnSpc>
              <a:spcBef>
                <a:spcPts val="0"/>
              </a:spcBef>
              <a:buFont typeface="Arial"/>
              <a:buChar char="•"/>
            </a:pPr>
            <a:r>
              <a:rPr lang="en-US" sz="1500" dirty="0">
                <a:solidFill>
                  <a:srgbClr val="595959"/>
                </a:solidFill>
              </a:rPr>
              <a:t>Many Indian dialects are purely oral: no written corpus and no speech technology supports them</a:t>
            </a:r>
          </a:p>
          <a:p>
            <a:pPr marL="256032" indent="-228600" algn="l">
              <a:lnSpc>
                <a:spcPct val="105000"/>
              </a:lnSpc>
              <a:spcBef>
                <a:spcPts val="1200"/>
              </a:spcBef>
              <a:buFont typeface="Arial"/>
              <a:buChar char="•"/>
            </a:pPr>
            <a:r>
              <a:rPr lang="en-US" sz="1500" dirty="0">
                <a:solidFill>
                  <a:srgbClr val="595959"/>
                </a:solidFill>
              </a:rPr>
              <a:t>Elders carry songs, rituals and knowledge that are lost when they are</a:t>
            </a:r>
          </a:p>
          <a:p>
            <a:pPr marL="256032" indent="-228600" algn="l">
              <a:lnSpc>
                <a:spcPct val="105000"/>
              </a:lnSpc>
              <a:spcBef>
                <a:spcPts val="1200"/>
              </a:spcBef>
              <a:buFont typeface="Arial"/>
              <a:buChar char="•"/>
            </a:pPr>
            <a:r>
              <a:rPr lang="en-US" sz="1500" dirty="0">
                <a:solidFill>
                  <a:srgbClr val="595959"/>
                </a:solidFill>
              </a:rPr>
              <a:t>Speech AI works well for Hindi or Kannada, but not for Tulu, Toda or Kodava</a:t>
            </a:r>
          </a:p>
          <a:p>
            <a:pPr marL="256032" indent="-228600" algn="l">
              <a:lnSpc>
                <a:spcPct val="105000"/>
              </a:lnSpc>
              <a:spcBef>
                <a:spcPts val="1200"/>
              </a:spcBef>
              <a:buFont typeface="Arial"/>
              <a:buChar char="•"/>
            </a:pPr>
            <a:r>
              <a:rPr lang="en-US" sz="1500" dirty="0">
                <a:solidFill>
                  <a:srgbClr val="595959"/>
                </a:solidFill>
              </a:rPr>
              <a:t>Manual transcription is slow and needs native speakers</a:t>
            </a:r>
          </a:p>
          <a:p>
            <a:pPr marL="256032" indent="-228600" algn="l">
              <a:lnSpc>
                <a:spcPct val="105000"/>
              </a:lnSpc>
              <a:spcBef>
                <a:spcPts val="1200"/>
              </a:spcBef>
              <a:buFont typeface="Arial"/>
              <a:buChar char="•"/>
            </a:pPr>
            <a:r>
              <a:rPr lang="en-US" sz="1500" dirty="0">
                <a:solidFill>
                  <a:srgbClr val="595959"/>
                </a:solidFill>
              </a:rPr>
              <a:t>SwaraVeda pairs AI first drafts with community correction, so each hour of speech becomes searchable, verified text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5989320" y="224028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FDF4E6"/>
          </a:solidFill>
          <a:ln>
            <a:noFill/>
          </a:ln>
        </p:spPr>
        <p:txBody>
          <a:bodyPr wrap="square" lIns="137160" tIns="137160" rIns="137160" bIns="13716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5400" b="1" dirty="0">
                <a:solidFill>
                  <a:srgbClr val="B45309"/>
                </a:solidFill>
              </a:rPr>
              <a:t>197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300" dirty="0">
                <a:solidFill>
                  <a:srgbClr val="262626"/>
                </a:solidFill>
              </a:rPr>
              <a:t>endangered languages in India, the most of any country</a:t>
            </a:r>
          </a:p>
          <a:p>
            <a:pPr marL="0" indent="0" algn="ctr">
              <a:lnSpc>
                <a:spcPct val="100000"/>
              </a:lnSpc>
              <a:spcBef>
                <a:spcPts val="800"/>
              </a:spcBef>
              <a:buNone/>
            </a:pPr>
            <a:r>
              <a:rPr lang="en-US" sz="1000" i="1" dirty="0">
                <a:solidFill>
                  <a:srgbClr val="595959"/>
                </a:solidFill>
              </a:rPr>
              <a:t>UNESCO Atlas of the World's Languages in Danger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5989320" y="4846320"/>
            <a:ext cx="2606040" cy="1234440"/>
          </a:xfrm>
          <a:prstGeom prst="roundRect">
            <a:avLst>
              <a:gd name="adj" fmla="val 8000"/>
            </a:avLst>
          </a:prstGeom>
          <a:solidFill>
            <a:srgbClr val="FCF0F5"/>
          </a:solidFill>
          <a:ln>
            <a:noFill/>
          </a:ln>
        </p:spPr>
        <p:txBody>
          <a:bodyPr wrap="square" lIns="109728" tIns="109728" rIns="109728" bIns="109728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3200" b="1" dirty="0">
                <a:solidFill>
                  <a:srgbClr val="A3326A"/>
                </a:solidFill>
              </a:rPr>
              <a:t>74</a:t>
            </a:r>
          </a:p>
          <a:p>
            <a:pPr marL="0" indent="0" algn="ctr">
              <a:lnSpc>
                <a:spcPct val="100000"/>
              </a:lnSpc>
              <a:spcBef>
                <a:spcPts val="200"/>
              </a:spcBef>
              <a:buNone/>
            </a:pPr>
            <a:r>
              <a:rPr lang="en-US" sz="1200" dirty="0">
                <a:solidFill>
                  <a:srgbClr val="262626"/>
                </a:solidFill>
              </a:rPr>
              <a:t>dialects catalogued in SwaraVeda so far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1"/>
          <p:cNvSpPr txBox="1"/>
          <p:nvPr/>
        </p:nvSpPr>
        <p:spPr>
          <a:xfrm>
            <a:off x="628650" y="1131097"/>
            <a:ext cx="7886700" cy="760000"/>
          </a:xfrm>
          <a:prstGeom prst="rect">
            <a:avLst/>
          </a:prstGeom>
          <a:noFill/>
          <a:ln>
            <a:noFill/>
          </a:ln>
        </p:spPr>
        <p:txBody>
          <a:bodyPr wrap="square" lIns="68569" tIns="34275" rIns="68569" bIns="34275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 and Problem Statement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48640" y="1920240"/>
            <a:ext cx="8046720" cy="1325880"/>
          </a:xfrm>
          <a:prstGeom prst="roundRect">
            <a:avLst>
              <a:gd name="adj" fmla="val 8000"/>
            </a:avLst>
          </a:prstGeom>
          <a:solidFill>
            <a:srgbClr val="FDF4E6"/>
          </a:solidFill>
          <a:ln>
            <a:noFill/>
          </a:ln>
        </p:spPr>
        <p:txBody>
          <a:bodyPr wrap="square" lIns="137160" tIns="137160" rIns="137160" bIns="13716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1" dirty="0">
                <a:solidFill>
                  <a:srgbClr val="B45309"/>
                </a:solidFill>
              </a:rPr>
              <a:t>Problem statement</a:t>
            </a:r>
          </a:p>
          <a:p>
            <a:pPr marL="0" indent="0" algn="l">
              <a:lnSpc>
                <a:spcPct val="11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62626"/>
                </a:solidFill>
              </a:rPr>
              <a:t>There is no simple, consent-aware platform where communities can record endangered dialects, get machine-drafted transcripts, correct and verify them, and turn them into a reusable dataset for speech technology.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548640" y="3429000"/>
            <a:ext cx="80467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b="1" dirty="0">
                <a:solidFill>
                  <a:srgbClr val="262626"/>
                </a:solidFill>
              </a:rPr>
              <a:t>Objectives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548640" y="3794760"/>
            <a:ext cx="8046720" cy="246888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Autofit/>
          </a:bodyPr>
          <a:lstStyle/>
          <a:p>
            <a:pPr marL="292608" indent="-292608" algn="l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400" dirty="0">
                <a:solidFill>
                  <a:srgbClr val="595959"/>
                </a:solidFill>
              </a:rPr>
              <a:t>Collect recordings in the browser or by upload, with explicit speaker consent</a:t>
            </a:r>
          </a:p>
          <a:p>
            <a:pPr marL="292608" indent="-292608" algn="l">
              <a:lnSpc>
                <a:spcPct val="100000"/>
              </a:lnSpc>
              <a:spcBef>
                <a:spcPts val="800"/>
              </a:spcBef>
              <a:buFont typeface="+mj-lt"/>
              <a:buAutoNum type="arabicPeriod"/>
            </a:pPr>
            <a:r>
              <a:rPr lang="en-US" sz="1400" dirty="0">
                <a:solidFill>
                  <a:srgbClr val="595959"/>
                </a:solidFill>
              </a:rPr>
              <a:t>Pre-process audio and generate timestamped transcripts automatically</a:t>
            </a:r>
          </a:p>
          <a:p>
            <a:pPr marL="292608" indent="-292608" algn="l">
              <a:lnSpc>
                <a:spcPct val="100000"/>
              </a:lnSpc>
              <a:spcBef>
                <a:spcPts val="800"/>
              </a:spcBef>
              <a:buFont typeface="+mj-lt"/>
              <a:buAutoNum type="arabicPeriod"/>
            </a:pPr>
            <a:r>
              <a:rPr lang="en-US" sz="1400" dirty="0">
                <a:solidFill>
                  <a:srgbClr val="595959"/>
                </a:solidFill>
              </a:rPr>
              <a:t>Let native speakers correct, and verifiers approve, every passage</a:t>
            </a:r>
          </a:p>
          <a:p>
            <a:pPr marL="292608" indent="-292608" algn="l">
              <a:lnSpc>
                <a:spcPct val="100000"/>
              </a:lnSpc>
              <a:spcBef>
                <a:spcPts val="800"/>
              </a:spcBef>
              <a:buFont typeface="+mj-lt"/>
              <a:buAutoNum type="arabicPeriod"/>
            </a:pPr>
            <a:r>
              <a:rPr lang="en-US" sz="1400" dirty="0">
                <a:solidFill>
                  <a:srgbClr val="595959"/>
                </a:solidFill>
              </a:rPr>
              <a:t>Make the archive searchable by words and by meaning, with passage playback</a:t>
            </a:r>
          </a:p>
          <a:p>
            <a:pPr marL="292608" indent="-292608" algn="l">
              <a:lnSpc>
                <a:spcPct val="100000"/>
              </a:lnSpc>
              <a:spcBef>
                <a:spcPts val="800"/>
              </a:spcBef>
              <a:buFont typeface="+mj-lt"/>
              <a:buAutoNum type="arabicPeriod"/>
            </a:pPr>
            <a:r>
              <a:rPr lang="en-US" sz="1400" dirty="0">
                <a:solidFill>
                  <a:srgbClr val="595959"/>
                </a:solidFill>
              </a:rPr>
              <a:t>Export corrected, consented data for training speech models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1"/>
          <p:cNvSpPr txBox="1"/>
          <p:nvPr/>
        </p:nvSpPr>
        <p:spPr>
          <a:xfrm>
            <a:off x="628650" y="1131097"/>
            <a:ext cx="7886700" cy="760000"/>
          </a:xfrm>
          <a:prstGeom prst="rect">
            <a:avLst/>
          </a:prstGeom>
          <a:noFill/>
          <a:ln>
            <a:noFill/>
          </a:ln>
        </p:spPr>
        <p:txBody>
          <a:bodyPr wrap="square" lIns="68569" tIns="34275" rIns="68569" bIns="34275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Model - System Architecture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457200" y="210312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7F7F7F"/>
            </a:solidFill>
          </a:ln>
        </p:spPr>
        <p:txBody>
          <a:bodyPr wrap="square" lIns="54864" tIns="54864" rIns="54864" bIns="54864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1" dirty="0">
                <a:solidFill>
                  <a:srgbClr val="262626"/>
                </a:solidFill>
              </a:rPr>
              <a:t>Web client</a:t>
            </a:r>
          </a:p>
          <a:p>
            <a:pPr marL="0" indent="0" algn="ctr">
              <a:lnSpc>
                <a:spcPct val="100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595959"/>
                </a:solidFill>
              </a:rPr>
              <a:t>React + TypeScript</a:t>
            </a:r>
          </a:p>
          <a:p>
            <a:pPr marL="0" indent="0" algn="ctr">
              <a:lnSpc>
                <a:spcPct val="100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595959"/>
                </a:solidFill>
              </a:rPr>
              <a:t>Vite, Tailwind CSS</a:t>
            </a:r>
          </a:p>
          <a:p>
            <a:pPr marL="0" indent="0" algn="ctr">
              <a:lnSpc>
                <a:spcPct val="100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595959"/>
                </a:solidFill>
              </a:rPr>
              <a:t>Hosted on Vercel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3383280" y="2103120"/>
            <a:ext cx="2377440" cy="1920240"/>
          </a:xfrm>
          <a:prstGeom prst="roundRect">
            <a:avLst>
              <a:gd name="adj" fmla="val 8000"/>
            </a:avLst>
          </a:prstGeom>
          <a:solidFill>
            <a:srgbClr val="FDF4E6"/>
          </a:solidFill>
          <a:ln w="12700">
            <a:solidFill>
              <a:srgbClr val="B45309"/>
            </a:solidFill>
          </a:ln>
        </p:spPr>
        <p:txBody>
          <a:bodyPr wrap="square" lIns="54864" tIns="54864" rIns="54864" bIns="54864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1" dirty="0">
                <a:solidFill>
                  <a:srgbClr val="B45309"/>
                </a:solidFill>
              </a:rPr>
              <a:t>REST API (FastAPI)</a:t>
            </a:r>
          </a:p>
          <a:p>
            <a:pPr marL="0" indent="0" algn="ctr">
              <a:lnSpc>
                <a:spcPct val="100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595959"/>
                </a:solidFill>
              </a:rPr>
              <a:t>Auth (JWT), recordings,</a:t>
            </a:r>
          </a:p>
          <a:p>
            <a:pPr marL="0" indent="0" algn="ctr">
              <a:lnSpc>
                <a:spcPct val="100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595959"/>
                </a:solidFill>
              </a:rPr>
              <a:t>segments, review, search,</a:t>
            </a:r>
          </a:p>
          <a:p>
            <a:pPr marL="0" indent="0" algn="ctr">
              <a:lnSpc>
                <a:spcPct val="100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595959"/>
                </a:solidFill>
              </a:rPr>
              <a:t>export, admin</a:t>
            </a:r>
          </a:p>
          <a:p>
            <a:pPr marL="0" indent="0" algn="ctr">
              <a:lnSpc>
                <a:spcPct val="100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595959"/>
                </a:solidFill>
              </a:rPr>
              <a:t>Audio pre-processing (ffmpeg)</a:t>
            </a:r>
          </a:p>
          <a:p>
            <a:pPr marL="0" indent="0" algn="ctr">
              <a:lnSpc>
                <a:spcPct val="100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595959"/>
                </a:solidFill>
              </a:rPr>
              <a:t>Hosted on Render (Docker)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309360" y="2103120"/>
            <a:ext cx="2377440" cy="1920240"/>
          </a:xfrm>
          <a:prstGeom prst="roundRect">
            <a:avLst>
              <a:gd name="adj" fmla="val 8000"/>
            </a:avLst>
          </a:prstGeom>
          <a:solidFill>
            <a:srgbClr val="FCF0F5"/>
          </a:solidFill>
          <a:ln w="12700">
            <a:solidFill>
              <a:srgbClr val="A3326A"/>
            </a:solidFill>
          </a:ln>
        </p:spPr>
        <p:txBody>
          <a:bodyPr wrap="square" lIns="54864" tIns="54864" rIns="54864" bIns="54864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1" dirty="0">
                <a:solidFill>
                  <a:srgbClr val="A3326A"/>
                </a:solidFill>
              </a:rPr>
              <a:t>Hosted AI services</a:t>
            </a:r>
          </a:p>
          <a:p>
            <a:pPr marL="0" indent="0" algn="ctr">
              <a:lnSpc>
                <a:spcPct val="100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595959"/>
                </a:solidFill>
              </a:rPr>
              <a:t>Whisper large-v3 (speech-to-text)</a:t>
            </a:r>
          </a:p>
          <a:p>
            <a:pPr marL="0" indent="0" algn="ctr">
              <a:lnSpc>
                <a:spcPct val="100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595959"/>
                </a:solidFill>
              </a:rPr>
              <a:t>Llama 3.3 (translation)</a:t>
            </a:r>
          </a:p>
          <a:p>
            <a:pPr marL="0" indent="0" algn="ctr">
              <a:lnSpc>
                <a:spcPct val="100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595959"/>
                </a:solidFill>
              </a:rPr>
              <a:t>Multilingual MiniLM</a:t>
            </a:r>
          </a:p>
          <a:p>
            <a:pPr marL="0" indent="0" algn="ctr">
              <a:lnSpc>
                <a:spcPct val="100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595959"/>
                </a:solidFill>
              </a:rPr>
              <a:t>(embeddings)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457200" y="4892040"/>
            <a:ext cx="2377440" cy="10972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7F7F7F"/>
            </a:solidFill>
          </a:ln>
        </p:spPr>
        <p:txBody>
          <a:bodyPr wrap="square" lIns="54864" tIns="54864" rIns="54864" bIns="54864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1" dirty="0">
                <a:solidFill>
                  <a:srgbClr val="262626"/>
                </a:solidFill>
              </a:rPr>
              <a:t>Object storage</a:t>
            </a:r>
          </a:p>
          <a:p>
            <a:pPr marL="0" indent="0" algn="ctr">
              <a:lnSpc>
                <a:spcPct val="100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595959"/>
                </a:solidFill>
              </a:rPr>
              <a:t>Supabase Storage</a:t>
            </a:r>
          </a:p>
          <a:p>
            <a:pPr marL="0" indent="0" algn="ctr">
              <a:lnSpc>
                <a:spcPct val="100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595959"/>
                </a:solidFill>
              </a:rPr>
              <a:t>audio files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3383280" y="4892040"/>
            <a:ext cx="2377440" cy="10972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7F7F7F"/>
            </a:solidFill>
          </a:ln>
        </p:spPr>
        <p:txBody>
          <a:bodyPr wrap="square" lIns="54864" tIns="54864" rIns="54864" bIns="54864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1" dirty="0">
                <a:solidFill>
                  <a:srgbClr val="262626"/>
                </a:solidFill>
              </a:rPr>
              <a:t>Database</a:t>
            </a:r>
          </a:p>
          <a:p>
            <a:pPr marL="0" indent="0" algn="ctr">
              <a:lnSpc>
                <a:spcPct val="100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595959"/>
                </a:solidFill>
              </a:rPr>
              <a:t>PostgreSQL + pgvector</a:t>
            </a:r>
          </a:p>
          <a:p>
            <a:pPr marL="0" indent="0" algn="ctr">
              <a:lnSpc>
                <a:spcPct val="100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595959"/>
                </a:solidFill>
              </a:rPr>
              <a:t>(Supabase)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6309360" y="4892040"/>
            <a:ext cx="2377440" cy="10972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7F7F7F"/>
            </a:solidFill>
          </a:ln>
        </p:spPr>
        <p:txBody>
          <a:bodyPr wrap="square" lIns="54864" tIns="54864" rIns="54864" bIns="54864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1" dirty="0">
                <a:solidFill>
                  <a:srgbClr val="262626"/>
                </a:solidFill>
              </a:rPr>
              <a:t>Local ML worker (optional)</a:t>
            </a:r>
          </a:p>
          <a:p>
            <a:pPr marL="0" indent="0" algn="ctr">
              <a:lnSpc>
                <a:spcPct val="100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595959"/>
                </a:solidFill>
              </a:rPr>
              <a:t>faster-whisper, pyannote,</a:t>
            </a:r>
          </a:p>
          <a:p>
            <a:pPr marL="0" indent="0" algn="ctr">
              <a:lnSpc>
                <a:spcPct val="100000"/>
              </a:lnSpc>
              <a:spcBef>
                <a:spcPts val="200"/>
              </a:spcBef>
              <a:buNone/>
            </a:pPr>
            <a:r>
              <a:rPr lang="en-US" sz="1000" dirty="0">
                <a:solidFill>
                  <a:srgbClr val="595959"/>
                </a:solidFill>
              </a:rPr>
              <a:t>for private recordings</a:t>
            </a:r>
          </a:p>
        </p:txBody>
      </p:sp>
      <p:cxnSp>
        <p:nvCxnSpPr>
          <p:cNvPr id="18" name="Arrow 18"/>
          <p:cNvCxnSpPr/>
          <p:nvPr/>
        </p:nvCxnSpPr>
        <p:spPr>
          <a:xfrm>
            <a:off x="2834640" y="2788920"/>
            <a:ext cx="548640" cy="0"/>
          </a:xfrm>
          <a:prstGeom prst="straightConnector1">
            <a:avLst/>
          </a:prstGeom>
          <a:ln w="19050">
            <a:solidFill>
              <a:srgbClr val="7F7F7F"/>
            </a:solidFill>
            <a:tailEnd type="triangle" w="med" len="med"/>
          </a:ln>
        </p:spPr>
      </p:cxnSp>
      <p:cxnSp>
        <p:nvCxnSpPr>
          <p:cNvPr id="19" name="Arrow 19"/>
          <p:cNvCxnSpPr/>
          <p:nvPr/>
        </p:nvCxnSpPr>
        <p:spPr>
          <a:xfrm>
            <a:off x="5760720" y="3063240"/>
            <a:ext cx="548640" cy="0"/>
          </a:xfrm>
          <a:prstGeom prst="straightConnector1">
            <a:avLst/>
          </a:prstGeom>
          <a:ln w="19050">
            <a:solidFill>
              <a:srgbClr val="7F7F7F"/>
            </a:solidFill>
            <a:tailEnd type="triangle" w="med" len="med"/>
          </a:ln>
        </p:spPr>
      </p:cxnSp>
      <p:cxnSp>
        <p:nvCxnSpPr>
          <p:cNvPr id="20" name="Arrow 20"/>
          <p:cNvCxnSpPr/>
          <p:nvPr/>
        </p:nvCxnSpPr>
        <p:spPr>
          <a:xfrm>
            <a:off x="4572000" y="4023360"/>
            <a:ext cx="0" cy="868680"/>
          </a:xfrm>
          <a:prstGeom prst="straightConnector1">
            <a:avLst/>
          </a:prstGeom>
          <a:ln w="19050">
            <a:solidFill>
              <a:srgbClr val="7F7F7F"/>
            </a:solidFill>
            <a:tailEnd type="triangle" w="med" len="med"/>
          </a:ln>
        </p:spPr>
      </p:cxnSp>
      <p:cxnSp>
        <p:nvCxnSpPr>
          <p:cNvPr id="21" name="Arrow 21"/>
          <p:cNvCxnSpPr/>
          <p:nvPr/>
        </p:nvCxnSpPr>
        <p:spPr>
          <a:xfrm>
            <a:off x="1645920" y="3474720"/>
            <a:ext cx="0" cy="1417320"/>
          </a:xfrm>
          <a:prstGeom prst="straightConnector1">
            <a:avLst/>
          </a:prstGeom>
          <a:ln w="19050">
            <a:solidFill>
              <a:srgbClr val="7F7F7F"/>
            </a:solidFill>
            <a:tailEnd type="triangle" w="med" len="med"/>
          </a:ln>
        </p:spPr>
      </p:cxnSp>
      <p:cxnSp>
        <p:nvCxnSpPr>
          <p:cNvPr id="22" name="Arrow 22"/>
          <p:cNvCxnSpPr/>
          <p:nvPr/>
        </p:nvCxnSpPr>
        <p:spPr>
          <a:xfrm flipH="1">
            <a:off x="2834640" y="4023360"/>
            <a:ext cx="731520" cy="1097280"/>
          </a:xfrm>
          <a:prstGeom prst="straightConnector1">
            <a:avLst/>
          </a:prstGeom>
          <a:ln w="19050">
            <a:solidFill>
              <a:srgbClr val="7F7F7F"/>
            </a:solidFill>
            <a:tailEnd type="triangle" w="med" len="med"/>
          </a:ln>
        </p:spPr>
      </p:cxnSp>
      <p:cxnSp>
        <p:nvCxnSpPr>
          <p:cNvPr id="23" name="Arrow 23"/>
          <p:cNvCxnSpPr/>
          <p:nvPr/>
        </p:nvCxnSpPr>
        <p:spPr>
          <a:xfrm flipH="1">
            <a:off x="5760720" y="5440680"/>
            <a:ext cx="548640" cy="0"/>
          </a:xfrm>
          <a:prstGeom prst="straightConnector1">
            <a:avLst/>
          </a:prstGeom>
          <a:ln w="19050">
            <a:solidFill>
              <a:srgbClr val="7F7F7F"/>
            </a:solidFill>
            <a:tailEnd type="triangle" w="med" len="med"/>
          </a:ln>
        </p:spPr>
      </p:cxnSp>
      <p:sp>
        <p:nvSpPr>
          <p:cNvPr id="24" name="Text 24"/>
          <p:cNvSpPr txBox="1"/>
          <p:nvPr/>
        </p:nvSpPr>
        <p:spPr>
          <a:xfrm>
            <a:off x="2514600" y="2468880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i="1" dirty="0">
                <a:solidFill>
                  <a:srgbClr val="595959"/>
                </a:solidFill>
              </a:rPr>
              <a:t>REST + JWT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5486400" y="274320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i="1" dirty="0">
                <a:solidFill>
                  <a:srgbClr val="595959"/>
                </a:solidFill>
              </a:rPr>
              <a:t>audio, text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4572000" y="429768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i="1" dirty="0">
                <a:solidFill>
                  <a:srgbClr val="595959"/>
                </a:solidFill>
              </a:rPr>
              <a:t>SQL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1645920" y="406908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i="1" dirty="0">
                <a:solidFill>
                  <a:srgbClr val="595959"/>
                </a:solidFill>
              </a:rPr>
              <a:t>signed upload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2788920" y="4251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i="1" dirty="0">
                <a:solidFill>
                  <a:srgbClr val="595959"/>
                </a:solidFill>
              </a:rPr>
              <a:t>download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5577840" y="548640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i="1" dirty="0">
                <a:solidFill>
                  <a:srgbClr val="595959"/>
                </a:solidFill>
              </a:rPr>
              <a:t>polls jobs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1"/>
          <p:cNvSpPr txBox="1"/>
          <p:nvPr/>
        </p:nvSpPr>
        <p:spPr>
          <a:xfrm>
            <a:off x="628650" y="1131097"/>
            <a:ext cx="7886700" cy="760000"/>
          </a:xfrm>
          <a:prstGeom prst="rect">
            <a:avLst/>
          </a:prstGeom>
          <a:noFill/>
          <a:ln>
            <a:noFill/>
          </a:ln>
        </p:spPr>
        <p:txBody>
          <a:bodyPr wrap="square" lIns="68569" tIns="34275" rIns="68569" bIns="34275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 - From Voice to Verified Text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02920" y="2057400"/>
            <a:ext cx="2514600" cy="19202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37160" tIns="137160" rIns="137160" bIns="137160" anchor="t">
            <a:noAutofit/>
          </a:bodyPr>
          <a:lstStyle/>
          <a:p>
            <a:pPr marL="50292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1" dirty="0">
                <a:solidFill>
                  <a:srgbClr val="262626"/>
                </a:solidFill>
              </a:rPr>
              <a:t>Record &amp; consent</a:t>
            </a:r>
          </a:p>
          <a:p>
            <a:pPr marL="0" indent="0" algn="l">
              <a:lnSpc>
                <a:spcPct val="1050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595959"/>
                </a:solidFill>
              </a:rPr>
              <a:t>Browser recording or upload; speaker agrees separately to public listening and AI training</a:t>
            </a:r>
          </a:p>
        </p:txBody>
      </p:sp>
      <p:sp>
        <p:nvSpPr>
          <p:cNvPr id="13" name="Step 13"/>
          <p:cNvSpPr/>
          <p:nvPr/>
        </p:nvSpPr>
        <p:spPr>
          <a:xfrm>
            <a:off x="621792" y="2148840"/>
            <a:ext cx="411480" cy="41148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</a:p>
        </p:txBody>
      </p:sp>
      <p:cxnSp>
        <p:nvCxnSpPr>
          <p:cNvPr id="14" name="Arrow 14"/>
          <p:cNvCxnSpPr/>
          <p:nvPr/>
        </p:nvCxnSpPr>
        <p:spPr>
          <a:xfrm>
            <a:off x="3017520" y="3017520"/>
            <a:ext cx="228600" cy="0"/>
          </a:xfrm>
          <a:prstGeom prst="straightConnector1">
            <a:avLst/>
          </a:prstGeom>
          <a:ln w="19050">
            <a:solidFill>
              <a:srgbClr val="B45309"/>
            </a:solidFill>
            <a:tailEnd type="triangle" w="med" len="med"/>
          </a:ln>
        </p:spPr>
      </p:cxnSp>
      <p:sp>
        <p:nvSpPr>
          <p:cNvPr id="15" name="Text 15"/>
          <p:cNvSpPr txBox="1"/>
          <p:nvPr/>
        </p:nvSpPr>
        <p:spPr>
          <a:xfrm>
            <a:off x="3246120" y="2057400"/>
            <a:ext cx="2514600" cy="19202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37160" tIns="137160" rIns="137160" bIns="137160" anchor="t">
            <a:noAutofit/>
          </a:bodyPr>
          <a:lstStyle/>
          <a:p>
            <a:pPr marL="50292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1" dirty="0">
                <a:solidFill>
                  <a:srgbClr val="262626"/>
                </a:solidFill>
              </a:rPr>
              <a:t>Pre-process</a:t>
            </a:r>
          </a:p>
          <a:p>
            <a:pPr marL="0" indent="0" algn="l">
              <a:lnSpc>
                <a:spcPct val="1050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595959"/>
                </a:solidFill>
              </a:rPr>
              <a:t>ffmpeg: mono, 16 kHz, 80 Hz high-pass, loudness normalised; no trimming</a:t>
            </a:r>
          </a:p>
        </p:txBody>
      </p:sp>
      <p:sp>
        <p:nvSpPr>
          <p:cNvPr id="16" name="Step 16"/>
          <p:cNvSpPr/>
          <p:nvPr/>
        </p:nvSpPr>
        <p:spPr>
          <a:xfrm>
            <a:off x="3364992" y="2148840"/>
            <a:ext cx="411480" cy="41148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</a:p>
        </p:txBody>
      </p:sp>
      <p:cxnSp>
        <p:nvCxnSpPr>
          <p:cNvPr id="17" name="Arrow 17"/>
          <p:cNvCxnSpPr/>
          <p:nvPr/>
        </p:nvCxnSpPr>
        <p:spPr>
          <a:xfrm>
            <a:off x="5760720" y="3017520"/>
            <a:ext cx="228600" cy="0"/>
          </a:xfrm>
          <a:prstGeom prst="straightConnector1">
            <a:avLst/>
          </a:prstGeom>
          <a:ln w="19050">
            <a:solidFill>
              <a:srgbClr val="B45309"/>
            </a:solidFill>
            <a:tailEnd type="triangle" w="med" len="med"/>
          </a:ln>
        </p:spPr>
      </p:cxnSp>
      <p:sp>
        <p:nvSpPr>
          <p:cNvPr id="18" name="Text 18"/>
          <p:cNvSpPr txBox="1"/>
          <p:nvPr/>
        </p:nvSpPr>
        <p:spPr>
          <a:xfrm>
            <a:off x="5989320" y="2057400"/>
            <a:ext cx="2514600" cy="19202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37160" tIns="137160" rIns="137160" bIns="137160" anchor="t">
            <a:noAutofit/>
          </a:bodyPr>
          <a:lstStyle/>
          <a:p>
            <a:pPr marL="50292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1" dirty="0">
                <a:solidFill>
                  <a:srgbClr val="262626"/>
                </a:solidFill>
              </a:rPr>
              <a:t>Transcribe</a:t>
            </a:r>
          </a:p>
          <a:p>
            <a:pPr marL="0" indent="0" algn="l">
              <a:lnSpc>
                <a:spcPct val="1050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595959"/>
                </a:solidFill>
              </a:rPr>
              <a:t>Whisper large-v3 with the dialect's language hint (e.g. Tulu as Kannada)</a:t>
            </a:r>
          </a:p>
        </p:txBody>
      </p:sp>
      <p:sp>
        <p:nvSpPr>
          <p:cNvPr id="19" name="Step 19"/>
          <p:cNvSpPr/>
          <p:nvPr/>
        </p:nvSpPr>
        <p:spPr>
          <a:xfrm>
            <a:off x="6108192" y="2148840"/>
            <a:ext cx="411480" cy="41148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502920" y="4206240"/>
            <a:ext cx="2514600" cy="19202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37160" tIns="137160" rIns="137160" bIns="137160" anchor="t">
            <a:noAutofit/>
          </a:bodyPr>
          <a:lstStyle/>
          <a:p>
            <a:pPr marL="50292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1" dirty="0">
                <a:solidFill>
                  <a:srgbClr val="262626"/>
                </a:solidFill>
              </a:rPr>
              <a:t>Correct</a:t>
            </a:r>
          </a:p>
          <a:p>
            <a:pPr marL="0" indent="0" algn="l">
              <a:lnSpc>
                <a:spcPct val="1050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595959"/>
                </a:solidFill>
              </a:rPr>
              <a:t>Native speakers fix each passage while it loops; AI suggests English and Latin script</a:t>
            </a:r>
          </a:p>
        </p:txBody>
      </p:sp>
      <p:sp>
        <p:nvSpPr>
          <p:cNvPr id="21" name="Step 21"/>
          <p:cNvSpPr/>
          <p:nvPr/>
        </p:nvSpPr>
        <p:spPr>
          <a:xfrm>
            <a:off x="621792" y="4297680"/>
            <a:ext cx="411480" cy="41148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</a:p>
        </p:txBody>
      </p:sp>
      <p:cxnSp>
        <p:nvCxnSpPr>
          <p:cNvPr id="22" name="Arrow 22"/>
          <p:cNvCxnSpPr/>
          <p:nvPr/>
        </p:nvCxnSpPr>
        <p:spPr>
          <a:xfrm>
            <a:off x="3017520" y="5166360"/>
            <a:ext cx="228600" cy="0"/>
          </a:xfrm>
          <a:prstGeom prst="straightConnector1">
            <a:avLst/>
          </a:prstGeom>
          <a:ln w="19050">
            <a:solidFill>
              <a:srgbClr val="B45309"/>
            </a:solidFill>
            <a:tailEnd type="triangle" w="med" len="med"/>
          </a:ln>
        </p:spPr>
      </p:cxnSp>
      <p:sp>
        <p:nvSpPr>
          <p:cNvPr id="23" name="Text 23"/>
          <p:cNvSpPr txBox="1"/>
          <p:nvPr/>
        </p:nvSpPr>
        <p:spPr>
          <a:xfrm>
            <a:off x="3246120" y="4206240"/>
            <a:ext cx="2514600" cy="19202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37160" tIns="137160" rIns="137160" bIns="137160" anchor="t">
            <a:noAutofit/>
          </a:bodyPr>
          <a:lstStyle/>
          <a:p>
            <a:pPr marL="50292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1" dirty="0">
                <a:solidFill>
                  <a:srgbClr val="262626"/>
                </a:solidFill>
              </a:rPr>
              <a:t>Verify</a:t>
            </a:r>
          </a:p>
          <a:p>
            <a:pPr marL="0" indent="0" algn="l">
              <a:lnSpc>
                <a:spcPct val="1050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595959"/>
                </a:solidFill>
              </a:rPr>
              <a:t>Verifiers approve corrections; passages move draft, corrected, verified</a:t>
            </a:r>
          </a:p>
        </p:txBody>
      </p:sp>
      <p:sp>
        <p:nvSpPr>
          <p:cNvPr id="24" name="Step 24"/>
          <p:cNvSpPr/>
          <p:nvPr/>
        </p:nvSpPr>
        <p:spPr>
          <a:xfrm>
            <a:off x="3364992" y="4297680"/>
            <a:ext cx="411480" cy="41148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</a:p>
        </p:txBody>
      </p:sp>
      <p:cxnSp>
        <p:nvCxnSpPr>
          <p:cNvPr id="25" name="Arrow 25"/>
          <p:cNvCxnSpPr/>
          <p:nvPr/>
        </p:nvCxnSpPr>
        <p:spPr>
          <a:xfrm>
            <a:off x="5760720" y="5166360"/>
            <a:ext cx="228600" cy="0"/>
          </a:xfrm>
          <a:prstGeom prst="straightConnector1">
            <a:avLst/>
          </a:prstGeom>
          <a:ln w="19050">
            <a:solidFill>
              <a:srgbClr val="B45309"/>
            </a:solidFill>
            <a:tailEnd type="triangle" w="med" len="med"/>
          </a:ln>
        </p:spPr>
      </p:cxnSp>
      <p:sp>
        <p:nvSpPr>
          <p:cNvPr id="26" name="Text 26"/>
          <p:cNvSpPr txBox="1"/>
          <p:nvPr/>
        </p:nvSpPr>
        <p:spPr>
          <a:xfrm>
            <a:off x="5989320" y="4206240"/>
            <a:ext cx="2514600" cy="19202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37160" tIns="137160" rIns="137160" bIns="137160" anchor="t">
            <a:noAutofit/>
          </a:bodyPr>
          <a:lstStyle/>
          <a:p>
            <a:pPr marL="50292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1" dirty="0">
                <a:solidFill>
                  <a:srgbClr val="262626"/>
                </a:solidFill>
              </a:rPr>
              <a:t>Search &amp; export</a:t>
            </a:r>
          </a:p>
          <a:p>
            <a:pPr marL="0" indent="0" algn="l">
              <a:lnSpc>
                <a:spcPct val="105000"/>
              </a:lnSpc>
              <a:spcBef>
                <a:spcPts val="1000"/>
              </a:spcBef>
              <a:buNone/>
            </a:pPr>
            <a:r>
              <a:rPr lang="en-US" sz="1200" dirty="0">
                <a:solidFill>
                  <a:srgbClr val="595959"/>
                </a:solidFill>
              </a:rPr>
              <a:t>Keyword and meaning search with playback; consented dataset export</a:t>
            </a:r>
          </a:p>
        </p:txBody>
      </p:sp>
      <p:sp>
        <p:nvSpPr>
          <p:cNvPr id="27" name="Step 27"/>
          <p:cNvSpPr/>
          <p:nvPr/>
        </p:nvSpPr>
        <p:spPr>
          <a:xfrm>
            <a:off x="6108192" y="4297680"/>
            <a:ext cx="411480" cy="41148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1"/>
          <p:cNvSpPr txBox="1"/>
          <p:nvPr/>
        </p:nvSpPr>
        <p:spPr>
          <a:xfrm>
            <a:off x="628650" y="1131097"/>
            <a:ext cx="7886700" cy="760000"/>
          </a:xfrm>
          <a:prstGeom prst="rect">
            <a:avLst/>
          </a:prstGeom>
          <a:noFill/>
          <a:ln>
            <a:noFill/>
          </a:ln>
        </p:spPr>
        <p:txBody>
          <a:bodyPr wrap="square" lIns="68569" tIns="34275" rIns="68569" bIns="34275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- Transcription Algorithm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02920" y="1965960"/>
            <a:ext cx="8138160" cy="35661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82880" tIns="182880" rIns="182880" bIns="18288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300" b="1" dirty="0">
                <a:solidFill>
                  <a:srgbClr val="B45309"/>
                </a:solidFill>
              </a:rPr>
              <a:t xml:space="preserve">Input: </a:t>
            </a:r>
            <a:r>
              <a:rPr lang="en-US" sz="1300" dirty="0">
                <a:solidFill>
                  <a:srgbClr val="262626"/>
                </a:solidFill>
              </a:rPr>
              <a:t>recording R with audio URL, dialect D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600" dirty="0">
                <a:solidFill>
                  <a:srgbClr val="595959"/>
                </a:solidFill>
              </a:rPr>
              <a:t xml:space="preserve"> </a:t>
            </a:r>
          </a:p>
          <a:p>
            <a:pPr marL="0" indent="0" algn="l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300" b="1" dirty="0">
                <a:solidFill>
                  <a:srgbClr val="B45309"/>
                </a:solidFill>
              </a:rPr>
              <a:t xml:space="preserve">1. </a:t>
            </a:r>
            <a:r>
              <a:rPr lang="en-US" sz="1300" dirty="0">
                <a:solidFill>
                  <a:srgbClr val="262626"/>
                </a:solidFill>
              </a:rPr>
              <a:t>If a job for R is queued or running, return it; else create job J</a:t>
            </a:r>
          </a:p>
          <a:p>
            <a:pPr marL="0" indent="0" algn="l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300" b="1" dirty="0">
                <a:solidFill>
                  <a:srgbClr val="B45309"/>
                </a:solidFill>
              </a:rPr>
              <a:t xml:space="preserve">2. </a:t>
            </a:r>
            <a:r>
              <a:rPr lang="en-US" sz="1300" dirty="0">
                <a:solidFill>
                  <a:srgbClr val="262626"/>
                </a:solidFill>
              </a:rPr>
              <a:t>Stream R's audio to disk (up to 200 MB)</a:t>
            </a:r>
          </a:p>
          <a:p>
            <a:pPr marL="0" indent="0" algn="l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300" b="1" dirty="0">
                <a:solidFill>
                  <a:srgbClr val="B45309"/>
                </a:solidFill>
              </a:rPr>
              <a:t xml:space="preserve">3. </a:t>
            </a:r>
            <a:r>
              <a:rPr lang="en-US" sz="1300" dirty="0">
                <a:solidFill>
                  <a:srgbClr val="262626"/>
                </a:solidFill>
              </a:rPr>
              <a:t>a ← ffmpeg(audio): mono, 16 kHz, high-pass 80 Hz, loudnorm −18 LUFS, Opus 32 kbps</a:t>
            </a:r>
          </a:p>
          <a:p>
            <a:pPr marL="0" indent="0" algn="l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300" b="1" dirty="0">
                <a:solidFill>
                  <a:srgbClr val="B45309"/>
                </a:solidFill>
              </a:rPr>
              <a:t xml:space="preserve">4. </a:t>
            </a:r>
            <a:r>
              <a:rPr lang="en-US" sz="1300" dirty="0">
                <a:solidFill>
                  <a:srgbClr val="262626"/>
                </a:solidFill>
              </a:rPr>
              <a:t>S ← Whisper-large-v3(a, language = D.asr_language)  → timestamped segments</a:t>
            </a:r>
          </a:p>
          <a:p>
            <a:pPr marL="0" indent="0" algn="l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300" b="1" dirty="0">
                <a:solidFill>
                  <a:srgbClr val="B45309"/>
                </a:solidFill>
              </a:rPr>
              <a:t xml:space="preserve">5. </a:t>
            </a:r>
            <a:r>
              <a:rPr lang="en-US" sz="1300" dirty="0">
                <a:solidFill>
                  <a:srgbClr val="262626"/>
                </a:solidFill>
              </a:rPr>
              <a:t>Replace R's segments with S;  R.status ← transcribed</a:t>
            </a:r>
          </a:p>
          <a:p>
            <a:pPr marL="0" indent="0" algn="l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300" b="1" dirty="0">
                <a:solidFill>
                  <a:srgbClr val="B45309"/>
                </a:solidFill>
              </a:rPr>
              <a:t xml:space="preserve">6. </a:t>
            </a:r>
            <a:r>
              <a:rPr lang="en-US" sz="1300" dirty="0">
                <a:solidFill>
                  <a:srgbClr val="262626"/>
                </a:solidFill>
              </a:rPr>
              <a:t>For each segment s:  s.embedding ← MiniLM(s.text)  (384-d, normalised)</a:t>
            </a:r>
          </a:p>
          <a:p>
            <a:pPr marL="0" indent="0" algn="l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300" b="1" dirty="0">
                <a:solidFill>
                  <a:srgbClr val="B45309"/>
                </a:solidFill>
              </a:rPr>
              <a:t xml:space="preserve">7. </a:t>
            </a:r>
            <a:r>
              <a:rPr lang="en-US" sz="1300" dirty="0">
                <a:solidFill>
                  <a:srgbClr val="262626"/>
                </a:solidFill>
              </a:rPr>
              <a:t>J.status ← completed;  progress reported 5 → 25 → 70 → 85 → 100 %</a:t>
            </a:r>
          </a:p>
          <a:p>
            <a:pPr marL="0" indent="0" algn="l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300" b="1" dirty="0">
                <a:solidFill>
                  <a:srgbClr val="B45309"/>
                </a:solidFill>
              </a:rPr>
              <a:t xml:space="preserve">On error: </a:t>
            </a:r>
            <a:r>
              <a:rPr lang="en-US" sz="1300" dirty="0">
                <a:solidFill>
                  <a:srgbClr val="262626"/>
                </a:solidFill>
              </a:rPr>
              <a:t>J.status ← failed with the reason;  R.status ← uploaded (retry possible)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502920" y="5669280"/>
            <a:ext cx="8138160" cy="59436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1" dirty="0">
                <a:solidFill>
                  <a:srgbClr val="262626"/>
                </a:solidFill>
              </a:rPr>
              <a:t xml:space="preserve">Design choice: </a:t>
            </a:r>
            <a:r>
              <a:rPr lang="en-US" sz="1200" dirty="0">
                <a:solidFill>
                  <a:srgbClr val="595959"/>
                </a:solidFill>
              </a:rPr>
              <a:t>audio is never trimmed, so every timestamp still points at the right moment in the original recording.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1"/>
          <p:cNvSpPr txBox="1"/>
          <p:nvPr/>
        </p:nvSpPr>
        <p:spPr>
          <a:xfrm>
            <a:off x="628650" y="1131097"/>
            <a:ext cx="7886700" cy="760000"/>
          </a:xfrm>
          <a:prstGeom prst="rect">
            <a:avLst/>
          </a:prstGeom>
          <a:noFill/>
          <a:ln>
            <a:noFill/>
          </a:ln>
        </p:spPr>
        <p:txBody>
          <a:bodyPr wrap="square" lIns="68569" tIns="34275" rIns="68569" bIns="34275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- Search and Review Logic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02920" y="2057400"/>
            <a:ext cx="2514600" cy="3108960"/>
          </a:xfrm>
          <a:prstGeom prst="roundRect">
            <a:avLst>
              <a:gd name="adj" fmla="val 8000"/>
            </a:avLst>
          </a:prstGeom>
          <a:solidFill>
            <a:srgbClr val="FDF4E6"/>
          </a:solidFill>
          <a:ln>
            <a:noFill/>
          </a:ln>
        </p:spPr>
        <p:txBody>
          <a:bodyPr wrap="square" lIns="164592" tIns="164592" rIns="164592" bIns="164592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500" b="1" dirty="0">
                <a:solidFill>
                  <a:srgbClr val="B45309"/>
                </a:solidFill>
              </a:rPr>
              <a:t>Keyword search</a:t>
            </a:r>
          </a:p>
          <a:p>
            <a:pPr marL="0" indent="0" algn="ctr">
              <a:lnSpc>
                <a:spcPct val="100000"/>
              </a:lnSpc>
              <a:spcBef>
                <a:spcPts val="800"/>
              </a:spcBef>
              <a:buNone/>
            </a:pPr>
            <a:r>
              <a:rPr lang="en-US" sz="1200" dirty="0">
                <a:solidFill>
                  <a:srgbClr val="262626"/>
                </a:solidFill>
              </a:rPr>
              <a:t>tsvector('simple', corrected or ASR text)</a:t>
            </a:r>
          </a:p>
          <a:p>
            <a:pPr marL="0" indent="0" algn="ctr">
              <a:lnSpc>
                <a:spcPct val="100000"/>
              </a:lnSpc>
              <a:spcBef>
                <a:spcPts val="800"/>
              </a:spcBef>
              <a:buNone/>
            </a:pPr>
            <a:r>
              <a:rPr lang="en-US" sz="1200" dirty="0">
                <a:solidFill>
                  <a:srgbClr val="262626"/>
                </a:solidFill>
              </a:rPr>
              <a:t>matched with plainto_tsquery(q)</a:t>
            </a:r>
          </a:p>
          <a:p>
            <a:pPr marL="0" indent="0" algn="ctr">
              <a:lnSpc>
                <a:spcPct val="100000"/>
              </a:lnSpc>
              <a:spcBef>
                <a:spcPts val="800"/>
              </a:spcBef>
              <a:buNone/>
            </a:pPr>
            <a:r>
              <a:rPr lang="en-US" sz="1200" dirty="0">
                <a:solidFill>
                  <a:srgbClr val="262626"/>
                </a:solidFill>
              </a:rPr>
              <a:t>ranked by ts_rank</a:t>
            </a:r>
          </a:p>
          <a:p>
            <a:pPr marL="0" indent="0" algn="ctr">
              <a:lnSpc>
                <a:spcPct val="100000"/>
              </a:lnSpc>
              <a:spcBef>
                <a:spcPts val="800"/>
              </a:spcBef>
              <a:buNone/>
            </a:pPr>
            <a:r>
              <a:rPr lang="en-US" sz="1200" dirty="0">
                <a:solidFill>
                  <a:srgbClr val="262626"/>
                </a:solidFill>
              </a:rPr>
              <a:t>only public recordings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3246120" y="2057400"/>
            <a:ext cx="2514600" cy="3108960"/>
          </a:xfrm>
          <a:prstGeom prst="roundRect">
            <a:avLst>
              <a:gd name="adj" fmla="val 8000"/>
            </a:avLst>
          </a:prstGeom>
          <a:solidFill>
            <a:srgbClr val="FCF0F5"/>
          </a:solidFill>
          <a:ln>
            <a:noFill/>
          </a:ln>
        </p:spPr>
        <p:txBody>
          <a:bodyPr wrap="square" lIns="164592" tIns="164592" rIns="164592" bIns="164592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500" b="1" dirty="0">
                <a:solidFill>
                  <a:srgbClr val="A3326A"/>
                </a:solidFill>
              </a:rPr>
              <a:t>Search by meaning</a:t>
            </a:r>
          </a:p>
          <a:p>
            <a:pPr marL="0" indent="0" algn="ctr">
              <a:lnSpc>
                <a:spcPct val="100000"/>
              </a:lnSpc>
              <a:spcBef>
                <a:spcPts val="800"/>
              </a:spcBef>
              <a:buNone/>
            </a:pPr>
            <a:r>
              <a:rPr lang="en-US" sz="1200" dirty="0">
                <a:solidFill>
                  <a:srgbClr val="262626"/>
                </a:solidFill>
              </a:rPr>
              <a:t>v_q ← MiniLM(q)</a:t>
            </a:r>
          </a:p>
          <a:p>
            <a:pPr marL="0" indent="0" algn="ctr">
              <a:lnSpc>
                <a:spcPct val="100000"/>
              </a:lnSpc>
              <a:spcBef>
                <a:spcPts val="800"/>
              </a:spcBef>
              <a:buNone/>
            </a:pPr>
            <a:r>
              <a:rPr lang="en-US" sz="1200" dirty="0">
                <a:solidFill>
                  <a:srgbClr val="262626"/>
                </a:solidFill>
              </a:rPr>
              <a:t>rank segments by cosine distance</a:t>
            </a:r>
          </a:p>
          <a:p>
            <a:pPr marL="0" indent="0" algn="ctr">
              <a:lnSpc>
                <a:spcPct val="100000"/>
              </a:lnSpc>
              <a:spcBef>
                <a:spcPts val="800"/>
              </a:spcBef>
              <a:buNone/>
            </a:pPr>
            <a:r>
              <a:rPr lang="en-US" sz="1200" dirty="0">
                <a:solidFill>
                  <a:srgbClr val="262626"/>
                </a:solidFill>
              </a:rPr>
              <a:t>(pgvector &lt;=&gt; operator)</a:t>
            </a:r>
          </a:p>
          <a:p>
            <a:pPr marL="0" indent="0" algn="ctr">
              <a:lnSpc>
                <a:spcPct val="100000"/>
              </a:lnSpc>
              <a:spcBef>
                <a:spcPts val="800"/>
              </a:spcBef>
              <a:buNone/>
            </a:pPr>
            <a:r>
              <a:rPr lang="en-US" sz="1200" dirty="0">
                <a:solidFill>
                  <a:srgbClr val="262626"/>
                </a:solidFill>
              </a:rPr>
              <a:t>works across scripts and languages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5989320" y="2057400"/>
            <a:ext cx="2514600" cy="3108960"/>
          </a:xfrm>
          <a:prstGeom prst="roundRect">
            <a:avLst>
              <a:gd name="adj" fmla="val 8000"/>
            </a:avLst>
          </a:prstGeom>
          <a:solidFill>
            <a:srgbClr val="EAF5EE"/>
          </a:solidFill>
          <a:ln>
            <a:noFill/>
          </a:ln>
        </p:spPr>
        <p:txBody>
          <a:bodyPr wrap="square" lIns="164592" tIns="164592" rIns="164592" bIns="164592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500" b="1" dirty="0">
                <a:solidFill>
                  <a:srgbClr val="2F7A4A"/>
                </a:solidFill>
              </a:rPr>
              <a:t>Review workflow</a:t>
            </a:r>
          </a:p>
          <a:p>
            <a:pPr marL="0" indent="0" algn="ctr">
              <a:lnSpc>
                <a:spcPct val="100000"/>
              </a:lnSpc>
              <a:spcBef>
                <a:spcPts val="800"/>
              </a:spcBef>
              <a:buNone/>
            </a:pPr>
            <a:r>
              <a:rPr lang="en-US" sz="1200" dirty="0">
                <a:solidFill>
                  <a:srgbClr val="262626"/>
                </a:solidFill>
              </a:rPr>
              <a:t>draft → corrected → verified</a:t>
            </a:r>
          </a:p>
          <a:p>
            <a:pPr marL="0" indent="0" algn="ctr">
              <a:lnSpc>
                <a:spcPct val="100000"/>
              </a:lnSpc>
              <a:spcBef>
                <a:spcPts val="800"/>
              </a:spcBef>
              <a:buNone/>
            </a:pPr>
            <a:r>
              <a:rPr lang="en-US" sz="1200" dirty="0">
                <a:solidFill>
                  <a:srgbClr val="262626"/>
                </a:solidFill>
              </a:rPr>
              <a:t>corrections re-embedded</a:t>
            </a:r>
          </a:p>
          <a:p>
            <a:pPr marL="0" indent="0" algn="ctr">
              <a:lnSpc>
                <a:spcPct val="100000"/>
              </a:lnSpc>
              <a:spcBef>
                <a:spcPts val="800"/>
              </a:spcBef>
              <a:buNone/>
            </a:pPr>
            <a:r>
              <a:rPr lang="en-US" sz="1200" dirty="0">
                <a:solidFill>
                  <a:srgbClr val="262626"/>
                </a:solidFill>
              </a:rPr>
              <a:t>export = corrected AND</a:t>
            </a:r>
          </a:p>
          <a:p>
            <a:pPr marL="0" indent="0" algn="ctr">
              <a:lnSpc>
                <a:spcPct val="100000"/>
              </a:lnSpc>
              <a:spcBef>
                <a:spcPts val="800"/>
              </a:spcBef>
              <a:buNone/>
            </a:pPr>
            <a:r>
              <a:rPr lang="en-US" sz="1200" dirty="0">
                <a:solidFill>
                  <a:srgbClr val="262626"/>
                </a:solidFill>
              </a:rPr>
              <a:t>AI-training consent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502920" y="5394960"/>
            <a:ext cx="8138160" cy="82296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buNone/>
            </a:pPr>
            <a:r>
              <a:rPr lang="en-US" sz="1200" b="1" dirty="0">
                <a:solidFill>
                  <a:srgbClr val="262626"/>
                </a:solidFill>
              </a:rPr>
              <a:t xml:space="preserve">Privacy: </a:t>
            </a:r>
            <a:r>
              <a:rPr lang="en-US" sz="1200" dirty="0">
                <a:solidFill>
                  <a:srgbClr val="595959"/>
                </a:solidFill>
              </a:rPr>
              <a:t>recordings without public-listening consent are visible only to their uploader, verifiers and admins, and never appear in search.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1"/>
          <p:cNvSpPr txBox="1"/>
          <p:nvPr/>
        </p:nvSpPr>
        <p:spPr>
          <a:xfrm>
            <a:off x="628650" y="1131097"/>
            <a:ext cx="7886700" cy="760000"/>
          </a:xfrm>
          <a:prstGeom prst="rect">
            <a:avLst/>
          </a:prstGeom>
          <a:noFill/>
          <a:ln>
            <a:noFill/>
          </a:ln>
        </p:spPr>
        <p:txBody>
          <a:bodyPr wrap="square" lIns="68569" tIns="34275" rIns="68569" bIns="34275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- Technology Stack</a:t>
            </a:r>
          </a:p>
        </p:txBody>
      </p:sp>
      <p:graphicFrame>
        <p:nvGraphicFramePr>
          <p:cNvPr id="12" name="Tech stack"/>
          <p:cNvGraphicFramePr>
            <a:graphicFrameLocks noGrp="1"/>
          </p:cNvGraphicFramePr>
          <p:nvPr/>
        </p:nvGraphicFramePr>
        <p:xfrm>
          <a:off x="640080" y="2011680"/>
          <a:ext cx="7863840" cy="3867912"/>
        </p:xfrm>
        <a:graphic>
          <a:graphicData uri="http://schemas.openxmlformats.org/drawingml/2006/table">
            <a:tbl>
              <a:tblPr firstRow="1" bandRow="1"/>
              <a:tblGrid>
                <a:gridCol w="1920240"/>
                <a:gridCol w="5943600"/>
              </a:tblGrid>
              <a:tr h="42976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 marL="91440" marR="91440" marT="54000" marB="54000" anchor="ctr"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Technology</a:t>
                      </a:r>
                    </a:p>
                  </a:txBody>
                  <a:tcPr marL="91440" marR="91440" marT="54000" marB="54000" anchor="ctr">
                    <a:solidFill>
                      <a:srgbClr val="B4530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</a:rPr>
                        <a:t>Frontend</a:t>
                      </a:r>
                    </a:p>
                  </a:txBody>
                  <a:tcPr marL="91440" marR="91440" marT="54000" marB="5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</a:rPr>
                        <a:t>React 19, TypeScript, Vite, Tailwind CSS (Vercel)</a:t>
                      </a:r>
                    </a:p>
                  </a:txBody>
                  <a:tcPr marL="91440" marR="91440" marT="54000" marB="54000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</a:rPr>
                        <a:t>Backend</a:t>
                      </a:r>
                    </a:p>
                  </a:txBody>
                  <a:tcPr marL="91440" marR="91440" marT="54000" marB="54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</a:rPr>
                        <a:t>FastAPI, SQLModel, JWT auth, bcrypt (Render, Docker)</a:t>
                      </a:r>
                    </a:p>
                  </a:txBody>
                  <a:tcPr marL="91440" marR="91440" marT="54000" marB="54000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</a:rPr>
                        <a:t>Database</a:t>
                      </a:r>
                    </a:p>
                  </a:txBody>
                  <a:tcPr marL="91440" marR="91440" marT="54000" marB="5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</a:rPr>
                        <a:t>PostgreSQL + pgvector, full-text search (Supabase)</a:t>
                      </a:r>
                    </a:p>
                  </a:txBody>
                  <a:tcPr marL="91440" marR="91440" marT="54000" marB="54000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</a:rPr>
                        <a:t>Storage</a:t>
                      </a:r>
                    </a:p>
                  </a:txBody>
                  <a:tcPr marL="91440" marR="91440" marT="54000" marB="54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</a:rPr>
                        <a:t>Supabase Storage with signed upload URLs</a:t>
                      </a:r>
                    </a:p>
                  </a:txBody>
                  <a:tcPr marL="91440" marR="91440" marT="54000" marB="54000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</a:rPr>
                        <a:t>Speech AI</a:t>
                      </a:r>
                    </a:p>
                  </a:txBody>
                  <a:tcPr marL="91440" marR="91440" marT="54000" marB="5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</a:rPr>
                        <a:t>Whisper large-v3 via Groq; faster-whisper locally</a:t>
                      </a:r>
                    </a:p>
                  </a:txBody>
                  <a:tcPr marL="91440" marR="91440" marT="54000" marB="54000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</a:rPr>
                        <a:t>Language AI</a:t>
                      </a:r>
                    </a:p>
                  </a:txBody>
                  <a:tcPr marL="91440" marR="91440" marT="54000" marB="54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</a:rPr>
                        <a:t>Llama 3.3 70B (translation); multilingual MiniLM embeddings</a:t>
                      </a:r>
                    </a:p>
                  </a:txBody>
                  <a:tcPr marL="91440" marR="91440" marT="54000" marB="54000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</a:rPr>
                        <a:t>Audio</a:t>
                      </a:r>
                    </a:p>
                  </a:txBody>
                  <a:tcPr marL="91440" marR="91440" marT="54000" marB="5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</a:rPr>
                        <a:t>ffmpeg, ffprobe</a:t>
                      </a:r>
                    </a:p>
                  </a:txBody>
                  <a:tcPr marL="91440" marR="91440" marT="54000" marB="54000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</a:rPr>
                        <a:t>Testing / CI</a:t>
                      </a:r>
                    </a:p>
                  </a:txBody>
                  <a:tcPr marL="91440" marR="91440" marT="54000" marB="54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</a:rPr>
                        <a:t>pytest (80 tests), Playwright end-to-end, GitHub Actions</a:t>
                      </a:r>
                    </a:p>
                  </a:txBody>
                  <a:tcPr marL="91440" marR="91440" marT="54000" marB="5400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1"/>
          <p:cNvSpPr txBox="1"/>
          <p:nvPr/>
        </p:nvSpPr>
        <p:spPr>
          <a:xfrm>
            <a:off x="628650" y="1131097"/>
            <a:ext cx="7886700" cy="760000"/>
          </a:xfrm>
          <a:prstGeom prst="rect">
            <a:avLst/>
          </a:prstGeom>
          <a:noFill/>
          <a:ln>
            <a:noFill/>
          </a:ln>
        </p:spPr>
        <p:txBody>
          <a:bodyPr wrap="square" lIns="68569" tIns="34275" rIns="68569" bIns="34275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- Listening Editor</a:t>
            </a:r>
          </a:p>
        </p:txBody>
      </p:sp>
      <p:pic>
        <p:nvPicPr>
          <p:cNvPr id="12" name="Screenshot 12" descr="Recording page with waveform player and transcript"/>
          <p:cNvPicPr>
            <a:picLocks noChangeAspect="1"/>
          </p:cNvPicPr>
          <p:nvPr/>
        </p:nvPicPr>
        <p:blipFill>
          <a:blip r:embed="rIdSV1"/>
          <a:stretch>
            <a:fillRect/>
          </a:stretch>
        </p:blipFill>
        <p:spPr>
          <a:xfrm>
            <a:off x="457200" y="1965960"/>
            <a:ext cx="4050453" cy="356616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pic>
        <p:nvPicPr>
          <p:cNvPr id="13" name="Screenshot 13" descr="Editor correcting a passage with AI suggestion"/>
          <p:cNvPicPr>
            <a:picLocks noChangeAspect="1"/>
          </p:cNvPicPr>
          <p:nvPr/>
        </p:nvPicPr>
        <p:blipFill>
          <a:blip r:embed="rIdSV2"/>
          <a:stretch>
            <a:fillRect/>
          </a:stretch>
        </p:blipFill>
        <p:spPr>
          <a:xfrm>
            <a:off x="4736253" y="1965960"/>
            <a:ext cx="3950547" cy="2275858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14" name="Text 14"/>
          <p:cNvSpPr txBox="1"/>
          <p:nvPr/>
        </p:nvSpPr>
        <p:spPr>
          <a:xfrm>
            <a:off x="457200" y="5623560"/>
            <a:ext cx="4050453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rgbClr val="595959"/>
                </a:solidFill>
              </a:rPr>
              <a:t>Waveform player: the transcript highlights the passage being heard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4736253" y="4343400"/>
            <a:ext cx="3950547" cy="146304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rgbClr val="595959"/>
                </a:solidFill>
              </a:rPr>
              <a:t>Correcting a passage: the AI draft, what was actually said, and the AI-suggested Latin script and English meaning</a:t>
            </a:r>
          </a:p>
          <a:p>
            <a:pPr marL="0" indent="0" algn="l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100" dirty="0">
                <a:solidFill>
                  <a:srgbClr val="595959"/>
                </a:solidFill>
              </a:rPr>
              <a:t>Ctrl+Enter saves and moves to the next passage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1"/>
          <p:cNvSpPr txBox="1"/>
          <p:nvPr/>
        </p:nvSpPr>
        <p:spPr>
          <a:xfrm>
            <a:off x="628650" y="1131097"/>
            <a:ext cx="7886700" cy="760000"/>
          </a:xfrm>
          <a:prstGeom prst="rect">
            <a:avLst/>
          </a:prstGeom>
          <a:noFill/>
          <a:ln>
            <a:noFill/>
          </a:ln>
        </p:spPr>
        <p:txBody>
          <a:bodyPr wrap="square" lIns="68569" tIns="34275" rIns="68569" bIns="34275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- Recording and Search</a:t>
            </a:r>
          </a:p>
        </p:txBody>
      </p:sp>
      <p:pic>
        <p:nvPicPr>
          <p:cNvPr id="12" name="Screenshot 12" descr="Recording wizard consent step"/>
          <p:cNvPicPr>
            <a:picLocks noChangeAspect="1"/>
          </p:cNvPicPr>
          <p:nvPr/>
        </p:nvPicPr>
        <p:blipFill>
          <a:blip r:embed="rIdSV1"/>
          <a:stretch>
            <a:fillRect/>
          </a:stretch>
        </p:blipFill>
        <p:spPr>
          <a:xfrm>
            <a:off x="457200" y="1965960"/>
            <a:ext cx="2743200" cy="259080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pic>
        <p:nvPicPr>
          <p:cNvPr id="13" name="Screenshot 13" descr="Search by meaning with play buttons"/>
          <p:cNvPicPr>
            <a:picLocks noChangeAspect="1"/>
          </p:cNvPicPr>
          <p:nvPr/>
        </p:nvPicPr>
        <p:blipFill>
          <a:blip r:embed="rIdSV2"/>
          <a:stretch>
            <a:fillRect/>
          </a:stretch>
        </p:blipFill>
        <p:spPr>
          <a:xfrm>
            <a:off x="3474720" y="1965960"/>
            <a:ext cx="5212080" cy="3637598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14" name="Text 14"/>
          <p:cNvSpPr txBox="1"/>
          <p:nvPr/>
        </p:nvSpPr>
        <p:spPr>
          <a:xfrm>
            <a:off x="457200" y="4629912"/>
            <a:ext cx="2743200" cy="68580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rgbClr val="595959"/>
                </a:solidFill>
              </a:rPr>
              <a:t>Recording wizard: the speaker's two separate consents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3474720" y="5676710"/>
            <a:ext cx="521208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rgbClr val="595959"/>
                </a:solidFill>
              </a:rPr>
              <a:t>Search by meaning: every result plays just its passage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1"/>
          <p:cNvSpPr txBox="1"/>
          <p:nvPr/>
        </p:nvSpPr>
        <p:spPr>
          <a:xfrm>
            <a:off x="628650" y="1131097"/>
            <a:ext cx="7886700" cy="760000"/>
          </a:xfrm>
          <a:prstGeom prst="rect">
            <a:avLst/>
          </a:prstGeom>
          <a:noFill/>
          <a:ln>
            <a:noFill/>
          </a:ln>
        </p:spPr>
        <p:txBody>
          <a:bodyPr wrap="square" lIns="68569" tIns="34275" rIns="68569" bIns="34275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- Outcomes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48640" y="2011680"/>
            <a:ext cx="3840480" cy="1417320"/>
          </a:xfrm>
          <a:prstGeom prst="roundRect">
            <a:avLst>
              <a:gd name="adj" fmla="val 8000"/>
            </a:avLst>
          </a:prstGeom>
          <a:solidFill>
            <a:srgbClr val="FDF4E6"/>
          </a:solidFill>
          <a:ln>
            <a:noFill/>
          </a:ln>
        </p:spPr>
        <p:txBody>
          <a:bodyPr wrap="square" lIns="109728" tIns="109728" rIns="109728" bIns="109728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3000" b="1" dirty="0">
                <a:solidFill>
                  <a:srgbClr val="B45309"/>
                </a:solidFill>
              </a:rPr>
              <a:t>74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200" dirty="0">
                <a:solidFill>
                  <a:srgbClr val="262626"/>
                </a:solidFill>
              </a:rPr>
              <a:t>Indian dialects catalogued, with region, script and ISO code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4663440" y="2011680"/>
            <a:ext cx="3840480" cy="14173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109728" rIns="109728" bIns="109728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3000" b="1" dirty="0">
                <a:solidFill>
                  <a:srgbClr val="B45309"/>
                </a:solidFill>
              </a:rPr>
              <a:t>80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200" dirty="0">
                <a:solidFill>
                  <a:srgbClr val="262626"/>
                </a:solidFill>
              </a:rPr>
              <a:t>automated backend tests passing, 5 on real PostgreSQL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548640" y="3611880"/>
            <a:ext cx="3840480" cy="14173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109728" rIns="109728" bIns="109728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3000" b="1" dirty="0">
                <a:solidFill>
                  <a:srgbClr val="B45309"/>
                </a:solidFill>
              </a:rPr>
              <a:t>2 MB → 24 KB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200" dirty="0">
                <a:solidFill>
                  <a:srgbClr val="262626"/>
                </a:solidFill>
              </a:rPr>
              <a:t>a stereo WAV after pre-processing, sent to Whisper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4663440" y="3611880"/>
            <a:ext cx="3840480" cy="1417320"/>
          </a:xfrm>
          <a:prstGeom prst="roundRect">
            <a:avLst>
              <a:gd name="adj" fmla="val 8000"/>
            </a:avLst>
          </a:prstGeom>
          <a:solidFill>
            <a:srgbClr val="FDF4E6"/>
          </a:solidFill>
          <a:ln>
            <a:noFill/>
          </a:ln>
        </p:spPr>
        <p:txBody>
          <a:bodyPr wrap="square" lIns="109728" tIns="109728" rIns="109728" bIns="109728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3000" b="1" dirty="0">
                <a:solidFill>
                  <a:srgbClr val="B45309"/>
                </a:solidFill>
              </a:rPr>
              <a:t>0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200" dirty="0">
                <a:solidFill>
                  <a:srgbClr val="262626"/>
                </a:solidFill>
              </a:rPr>
              <a:t>browser errors across 17 screens in the end-to-end run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548640" y="5349240"/>
            <a:ext cx="804672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Autofit/>
          </a:bodyPr>
          <a:lstStyle/>
          <a:p>
            <a:pPr marL="256032" indent="-228600" algn="l">
              <a:lnSpc>
                <a:spcPct val="100000"/>
              </a:lnSpc>
              <a:spcBef>
                <a:spcPts val="0"/>
              </a:spcBef>
              <a:buFont typeface="Arial"/>
              <a:buChar char="•"/>
            </a:pPr>
            <a:r>
              <a:rPr lang="en-US" sz="1300" dirty="0">
                <a:solidFill>
                  <a:srgbClr val="595959"/>
                </a:solidFill>
              </a:rPr>
              <a:t>Deployed live: swara-veda.vercel.app (frontend) and a Render API with a Supabase database</a:t>
            </a:r>
          </a:p>
          <a:p>
            <a:pPr marL="256032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1300" dirty="0">
                <a:solidFill>
                  <a:srgbClr val="595959"/>
                </a:solidFill>
              </a:rPr>
              <a:t>End-to-end test with real Kannada-script speech: upload, transcription, correction, verification, search and export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1"/>
          <p:cNvSpPr txBox="1"/>
          <p:nvPr/>
        </p:nvSpPr>
        <p:spPr>
          <a:xfrm>
            <a:off x="628650" y="1131097"/>
            <a:ext cx="7886700" cy="760000"/>
          </a:xfrm>
          <a:prstGeom prst="rect">
            <a:avLst/>
          </a:prstGeom>
          <a:noFill/>
          <a:ln>
            <a:noFill/>
          </a:ln>
        </p:spPr>
        <p:txBody>
          <a:bodyPr wrap="square" lIns="68569" tIns="34275" rIns="68569" bIns="34275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85800" y="2103120"/>
            <a:ext cx="7772400" cy="402336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Autofit/>
          </a:bodyPr>
          <a:lstStyle/>
          <a:p>
            <a:pPr marL="256032" indent="-228600" algn="l">
              <a:lnSpc>
                <a:spcPct val="105000"/>
              </a:lnSpc>
              <a:spcBef>
                <a:spcPts val="0"/>
              </a:spcBef>
              <a:buFont typeface="Arial"/>
              <a:buChar char="•"/>
            </a:pPr>
            <a:r>
              <a:rPr lang="en-US" sz="1500" dirty="0">
                <a:solidFill>
                  <a:srgbClr val="595959"/>
                </a:solidFill>
              </a:rPr>
              <a:t>SwaraVeda turns oral recordings of endangered dialects into verified, searchable text</a:t>
            </a:r>
          </a:p>
          <a:p>
            <a:pPr marL="256032" indent="-228600" algn="l">
              <a:lnSpc>
                <a:spcPct val="105000"/>
              </a:lnSpc>
              <a:spcBef>
                <a:spcPts val="1400"/>
              </a:spcBef>
              <a:buFont typeface="Arial"/>
              <a:buChar char="•"/>
            </a:pPr>
            <a:r>
              <a:rPr lang="en-US" sz="1500" dirty="0">
                <a:solidFill>
                  <a:srgbClr val="595959"/>
                </a:solidFill>
              </a:rPr>
              <a:t>AI does the first draft; native speakers keep the authority over every word</a:t>
            </a:r>
          </a:p>
          <a:p>
            <a:pPr marL="256032" indent="-228600" algn="l">
              <a:lnSpc>
                <a:spcPct val="105000"/>
              </a:lnSpc>
              <a:spcBef>
                <a:spcPts val="1400"/>
              </a:spcBef>
              <a:buFont typeface="Arial"/>
              <a:buChar char="•"/>
            </a:pPr>
            <a:r>
              <a:rPr lang="en-US" sz="1500" dirty="0">
                <a:solidFill>
                  <a:srgbClr val="595959"/>
                </a:solidFill>
              </a:rPr>
              <a:t>Audio pre-processing and per-dialect language hints make a general speech model usable for low-resource dialects</a:t>
            </a:r>
          </a:p>
          <a:p>
            <a:pPr marL="256032" indent="-228600" algn="l">
              <a:lnSpc>
                <a:spcPct val="105000"/>
              </a:lnSpc>
              <a:spcBef>
                <a:spcPts val="1400"/>
              </a:spcBef>
              <a:buFont typeface="Arial"/>
              <a:buChar char="•"/>
            </a:pPr>
            <a:r>
              <a:rPr lang="en-US" sz="1500" dirty="0">
                <a:solidFill>
                  <a:srgbClr val="595959"/>
                </a:solidFill>
              </a:rPr>
              <a:t>Consent is explicit and enforced: private recordings stay private, and only consented data is exported</a:t>
            </a:r>
          </a:p>
          <a:p>
            <a:pPr marL="256032" indent="-228600" algn="l">
              <a:lnSpc>
                <a:spcPct val="105000"/>
              </a:lnSpc>
              <a:spcBef>
                <a:spcPts val="1400"/>
              </a:spcBef>
              <a:buFont typeface="Arial"/>
              <a:buChar char="•"/>
            </a:pPr>
            <a:r>
              <a:rPr lang="en-US" sz="1500" dirty="0">
                <a:solidFill>
                  <a:srgbClr val="595959"/>
                </a:solidFill>
              </a:rPr>
              <a:t>The corrected dataset is the foundation for future speech models that understand these dialects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1"/>
          <p:cNvSpPr txBox="1"/>
          <p:nvPr/>
        </p:nvSpPr>
        <p:spPr>
          <a:xfrm>
            <a:off x="628650" y="1131097"/>
            <a:ext cx="7886700" cy="760000"/>
          </a:xfrm>
          <a:prstGeom prst="rect">
            <a:avLst/>
          </a:prstGeom>
          <a:noFill/>
          <a:ln>
            <a:noFill/>
          </a:ln>
        </p:spPr>
        <p:txBody>
          <a:bodyPr wrap="square" lIns="68569" tIns="34275" rIns="68569" bIns="34275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 to be Completed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48640" y="2011680"/>
            <a:ext cx="384048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37160" tIns="137160" rIns="137160" bIns="13716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1" dirty="0">
                <a:solidFill>
                  <a:srgbClr val="B45309"/>
                </a:solidFill>
              </a:rPr>
              <a:t>Field data</a:t>
            </a:r>
          </a:p>
          <a:p>
            <a:pPr marL="0" indent="0" algn="l">
              <a:lnSpc>
                <a:spcPct val="105000"/>
              </a:lnSpc>
              <a:spcBef>
                <a:spcPts val="400"/>
              </a:spcBef>
              <a:buNone/>
            </a:pPr>
            <a:r>
              <a:rPr lang="en-US" sz="1200" dirty="0">
                <a:solidFill>
                  <a:srgbClr val="262626"/>
                </a:solidFill>
              </a:rPr>
              <a:t>Record with Tulu and Kodava speakers; correct and verify the transcripts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4663440" y="2011680"/>
            <a:ext cx="384048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37160" tIns="137160" rIns="137160" bIns="13716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1" dirty="0">
                <a:solidFill>
                  <a:srgbClr val="B45309"/>
                </a:solidFill>
              </a:rPr>
              <a:t>Production AI</a:t>
            </a:r>
          </a:p>
          <a:p>
            <a:pPr marL="0" indent="0" algn="l">
              <a:lnSpc>
                <a:spcPct val="105000"/>
              </a:lnSpc>
              <a:spcBef>
                <a:spcPts val="400"/>
              </a:spcBef>
              <a:buNone/>
            </a:pPr>
            <a:r>
              <a:rPr lang="en-US" sz="1200" dirty="0">
                <a:solidFill>
                  <a:srgbClr val="262626"/>
                </a:solidFill>
              </a:rPr>
              <a:t>Enable hosted transcription and semantic search keys on the live server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548640" y="3383280"/>
            <a:ext cx="384048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37160" tIns="137160" rIns="137160" bIns="13716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1" dirty="0">
                <a:solidFill>
                  <a:srgbClr val="B45309"/>
                </a:solidFill>
              </a:rPr>
              <a:t>Accessibility</a:t>
            </a:r>
          </a:p>
          <a:p>
            <a:pPr marL="0" indent="0" algn="l">
              <a:lnSpc>
                <a:spcPct val="105000"/>
              </a:lnSpc>
              <a:spcBef>
                <a:spcPts val="400"/>
              </a:spcBef>
              <a:buNone/>
            </a:pPr>
            <a:r>
              <a:rPr lang="en-US" sz="1200" dirty="0">
                <a:solidFill>
                  <a:srgbClr val="262626"/>
                </a:solidFill>
              </a:rPr>
              <a:t>Interface in Kannada, Hindi and other Indian languages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4663440" y="3383280"/>
            <a:ext cx="384048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37160" tIns="137160" rIns="137160" bIns="13716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1" dirty="0">
                <a:solidFill>
                  <a:srgbClr val="B45309"/>
                </a:solidFill>
              </a:rPr>
              <a:t>Offline use</a:t>
            </a:r>
          </a:p>
          <a:p>
            <a:pPr marL="0" indent="0" algn="l">
              <a:lnSpc>
                <a:spcPct val="105000"/>
              </a:lnSpc>
              <a:spcBef>
                <a:spcPts val="400"/>
              </a:spcBef>
              <a:buNone/>
            </a:pPr>
            <a:r>
              <a:rPr lang="en-US" sz="1200" dirty="0">
                <a:solidFill>
                  <a:srgbClr val="262626"/>
                </a:solidFill>
              </a:rPr>
              <a:t>Record without internet in villages and upload later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548640" y="4754880"/>
            <a:ext cx="384048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37160" tIns="137160" rIns="137160" bIns="13716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1" dirty="0">
                <a:solidFill>
                  <a:srgbClr val="B45309"/>
                </a:solidFill>
              </a:rPr>
              <a:t>Speakers</a:t>
            </a:r>
          </a:p>
          <a:p>
            <a:pPr marL="0" indent="0" algn="l">
              <a:lnSpc>
                <a:spcPct val="105000"/>
              </a:lnSpc>
              <a:spcBef>
                <a:spcPts val="400"/>
              </a:spcBef>
              <a:buNone/>
            </a:pPr>
            <a:r>
              <a:rPr lang="en-US" sz="1200" dirty="0">
                <a:solidFill>
                  <a:srgbClr val="262626"/>
                </a:solidFill>
              </a:rPr>
              <a:t>Speaker diarization in hosted mode; expiring links for private audio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4663440" y="4754880"/>
            <a:ext cx="384048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37160" tIns="137160" rIns="137160" bIns="13716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1" dirty="0">
                <a:solidFill>
                  <a:srgbClr val="B45309"/>
                </a:solidFill>
              </a:rPr>
              <a:t>Model</a:t>
            </a:r>
          </a:p>
          <a:p>
            <a:pPr marL="0" indent="0" algn="l">
              <a:lnSpc>
                <a:spcPct val="105000"/>
              </a:lnSpc>
              <a:spcBef>
                <a:spcPts val="400"/>
              </a:spcBef>
              <a:buNone/>
            </a:pPr>
            <a:r>
              <a:rPr lang="en-US" sz="1200" dirty="0">
                <a:solidFill>
                  <a:srgbClr val="262626"/>
                </a:solidFill>
              </a:rPr>
              <a:t>Fine-tune Whisper on the exported dataset and measure word error rate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1"/>
          <p:cNvSpPr txBox="1"/>
          <p:nvPr/>
        </p:nvSpPr>
        <p:spPr>
          <a:xfrm>
            <a:off x="628650" y="1131097"/>
            <a:ext cx="7886700" cy="760000"/>
          </a:xfrm>
          <a:prstGeom prst="rect">
            <a:avLst/>
          </a:prstGeom>
          <a:noFill/>
          <a:ln>
            <a:noFill/>
          </a:ln>
        </p:spPr>
        <p:txBody>
          <a:bodyPr wrap="square" lIns="68569" tIns="34275" rIns="68569" bIns="34275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48640" y="1965960"/>
            <a:ext cx="8046720" cy="4343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Autofit/>
          </a:bodyPr>
          <a:lstStyle/>
          <a:p>
            <a:pPr marL="292608" indent="-292608" algn="l">
              <a:lnSpc>
                <a:spcPct val="105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200" dirty="0">
                <a:solidFill>
                  <a:srgbClr val="595959"/>
                </a:solidFill>
              </a:rPr>
              <a:t>UNESCO, Atlas of the World's Languages in Danger, 3rd ed., Paris: UNESCO Publishing, 2010.</a:t>
            </a:r>
          </a:p>
          <a:p>
            <a:pPr marL="292608" indent="-292608" algn="l">
              <a:lnSpc>
                <a:spcPct val="105000"/>
              </a:lnSpc>
              <a:spcBef>
                <a:spcPts val="700"/>
              </a:spcBef>
              <a:buFont typeface="+mj-lt"/>
              <a:buAutoNum type="arabicPeriod"/>
            </a:pPr>
            <a:r>
              <a:rPr lang="en-US" sz="1200" dirty="0">
                <a:solidFill>
                  <a:srgbClr val="595959"/>
                </a:solidFill>
              </a:rPr>
              <a:t>A. Radford, J. W. Kim, T. Xu, G. Brockman, C. McLeavey and I. Sutskever, “Robust Speech Recognition via Large-Scale Weak Supervision,” arXiv:2212.04356, 2022.</a:t>
            </a:r>
          </a:p>
          <a:p>
            <a:pPr marL="292608" indent="-292608" algn="l">
              <a:lnSpc>
                <a:spcPct val="105000"/>
              </a:lnSpc>
              <a:spcBef>
                <a:spcPts val="700"/>
              </a:spcBef>
              <a:buFont typeface="+mj-lt"/>
              <a:buAutoNum type="arabicPeriod"/>
            </a:pPr>
            <a:r>
              <a:rPr lang="en-US" sz="1200" dirty="0">
                <a:solidFill>
                  <a:srgbClr val="595959"/>
                </a:solidFill>
              </a:rPr>
              <a:t>N. Reimers and I. Gurevych, “Sentence-BERT: Sentence Embeddings using Siamese BERT-Networks,” Proc. EMNLP-IJCNLP, 2019.</a:t>
            </a:r>
          </a:p>
          <a:p>
            <a:pPr marL="292608" indent="-292608" algn="l">
              <a:lnSpc>
                <a:spcPct val="105000"/>
              </a:lnSpc>
              <a:spcBef>
                <a:spcPts val="700"/>
              </a:spcBef>
              <a:buFont typeface="+mj-lt"/>
              <a:buAutoNum type="arabicPeriod"/>
            </a:pPr>
            <a:r>
              <a:rPr lang="en-US" sz="1200" dirty="0">
                <a:solidFill>
                  <a:srgbClr val="595959"/>
                </a:solidFill>
              </a:rPr>
              <a:t>N. Reimers and I. Gurevych, “Making Monolingual Sentence Embeddings Multilingual using Knowledge Distillation,” Proc. EMNLP, 2020.</a:t>
            </a:r>
          </a:p>
          <a:p>
            <a:pPr marL="292608" indent="-292608" algn="l">
              <a:lnSpc>
                <a:spcPct val="105000"/>
              </a:lnSpc>
              <a:spcBef>
                <a:spcPts val="700"/>
              </a:spcBef>
              <a:buFont typeface="+mj-lt"/>
              <a:buAutoNum type="arabicPeriod"/>
            </a:pPr>
            <a:r>
              <a:rPr lang="en-US" sz="1200" dirty="0">
                <a:solidFill>
                  <a:srgbClr val="595959"/>
                </a:solidFill>
              </a:rPr>
              <a:t>H. Bredin et al., “pyannote.audio: Neural Building Blocks for Speaker Diarization,” Proc. ICASSP, 2020.</a:t>
            </a:r>
          </a:p>
          <a:p>
            <a:pPr marL="292608" indent="-292608" algn="l">
              <a:lnSpc>
                <a:spcPct val="105000"/>
              </a:lnSpc>
              <a:spcBef>
                <a:spcPts val="700"/>
              </a:spcBef>
              <a:buFont typeface="+mj-lt"/>
              <a:buAutoNum type="arabicPeriod"/>
            </a:pPr>
            <a:r>
              <a:rPr lang="en-US" sz="1200" dirty="0">
                <a:solidFill>
                  <a:srgbClr val="595959"/>
                </a:solidFill>
              </a:rPr>
              <a:t>pgvector: open-source vector similarity search for PostgreSQL, github.com/pgvector/pgvector.</a:t>
            </a:r>
          </a:p>
          <a:p>
            <a:pPr marL="292608" indent="-292608" algn="l">
              <a:lnSpc>
                <a:spcPct val="105000"/>
              </a:lnSpc>
              <a:spcBef>
                <a:spcPts val="700"/>
              </a:spcBef>
              <a:buFont typeface="+mj-lt"/>
              <a:buAutoNum type="arabicPeriod"/>
            </a:pPr>
            <a:r>
              <a:rPr lang="en-US" sz="1200" dirty="0">
                <a:solidFill>
                  <a:srgbClr val="595959"/>
                </a:solidFill>
              </a:rPr>
              <a:t>SYSTRAN, faster-whisper: Whisper inference with CTranslate2, github.com/SYSTRAN/faster-whisper.</a:t>
            </a:r>
          </a:p>
          <a:p>
            <a:pPr marL="292608" indent="-292608" algn="l">
              <a:lnSpc>
                <a:spcPct val="105000"/>
              </a:lnSpc>
              <a:spcBef>
                <a:spcPts val="700"/>
              </a:spcBef>
              <a:buFont typeface="+mj-lt"/>
              <a:buAutoNum type="arabicPeriod"/>
            </a:pPr>
            <a:r>
              <a:rPr lang="en-US" sz="1200" dirty="0">
                <a:solidFill>
                  <a:srgbClr val="595959"/>
                </a:solidFill>
              </a:rPr>
              <a:t>SIL International, ISO 639-3 code tables, iso639-3.sil.org.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7_Theme1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341</TotalTime>
  <Words>96</Words>
  <Application>Microsoft Office PowerPoint</Application>
  <PresentationFormat>On-screen Show (4:3)</PresentationFormat>
  <Paragraphs>27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Times New Roman</vt:lpstr>
      <vt:lpstr>Arial</vt:lpstr>
      <vt:lpstr>Verdana</vt:lpstr>
      <vt:lpstr>2_Simple Light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srividhya v r</cp:lastModifiedBy>
  <cp:revision>25</cp:revision>
  <cp:lastPrinted>2024-09-27T04:20:50Z</cp:lastPrinted>
  <dcterms:created xsi:type="dcterms:W3CDTF">2023-10-20T09:46:10Z</dcterms:created>
  <dcterms:modified xsi:type="dcterms:W3CDTF">2026-10-21T04:22:26Z</dcterms:modified>
</cp:coreProperties>
</file>